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60" r:id="rId3"/>
    <p:sldId id="258" r:id="rId4"/>
    <p:sldId id="259" r:id="rId5"/>
    <p:sldId id="262" r:id="rId6"/>
    <p:sldId id="263" r:id="rId7"/>
    <p:sldId id="264" r:id="rId8"/>
    <p:sldId id="265" r:id="rId9"/>
    <p:sldId id="257" r:id="rId10"/>
    <p:sldId id="266" r:id="rId11"/>
    <p:sldId id="268" r:id="rId12"/>
    <p:sldId id="269" r:id="rId13"/>
    <p:sldId id="270" r:id="rId14"/>
    <p:sldId id="271" r:id="rId15"/>
    <p:sldId id="272" r:id="rId16"/>
    <p:sldId id="274" r:id="rId17"/>
    <p:sldId id="273" r:id="rId18"/>
    <p:sldId id="261" r:id="rId19"/>
    <p:sldId id="26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üseyin GÜNEŞ" initials="HG" lastIdx="1" clrIdx="0">
    <p:extLst>
      <p:ext uri="{19B8F6BF-5375-455C-9EA6-DF929625EA0E}">
        <p15:presenceInfo xmlns:p15="http://schemas.microsoft.com/office/powerpoint/2012/main" userId="Hüseyin GÜNEŞ"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3-17T09:27:48.671" idx="1">
    <p:pos x="5855" y="2357"/>
    <p:text>Selective Search</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tr-TR"/>
              <a:t>Asıl başlık stilini düzenlemek için tıklayın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29212763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250349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18028790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6" name="Footer Placeholder 5"/>
          <p:cNvSpPr>
            <a:spLocks noGrp="1"/>
          </p:cNvSpPr>
          <p:nvPr>
            <p:ph type="ftr" sz="quarter" idx="11"/>
          </p:nvPr>
        </p:nvSpPr>
        <p:spPr/>
        <p:txBody>
          <a:bodyPr/>
          <a:lstStyle/>
          <a:p>
            <a:pPr algn="l"/>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11147395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8" name="Footer Placeholder 7"/>
          <p:cNvSpPr>
            <a:spLocks noGrp="1"/>
          </p:cNvSpPr>
          <p:nvPr>
            <p:ph type="ftr" sz="quarter" idx="11"/>
          </p:nvPr>
        </p:nvSpPr>
        <p:spPr/>
        <p:txBody>
          <a:bodyPr/>
          <a:lstStyle/>
          <a:p>
            <a:pPr algn="l"/>
            <a:r>
              <a:rPr lang="en-US"/>
              <a:t>Sample Footer Text</a:t>
            </a:r>
            <a:endParaRPr lang="en-US" dirty="0"/>
          </a:p>
        </p:txBody>
      </p:sp>
      <p:sp>
        <p:nvSpPr>
          <p:cNvPr id="9" name="Slide Number Placeholder 8"/>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1869657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7" name="Date Placeholder 2"/>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3"/>
          <p:cNvSpPr>
            <a:spLocks noGrp="1"/>
          </p:cNvSpPr>
          <p:nvPr>
            <p:ph type="ftr" sz="quarter" idx="11"/>
          </p:nvPr>
        </p:nvSpPr>
        <p:spPr/>
        <p:txBody>
          <a:bodyPr/>
          <a:lstStyle/>
          <a:p>
            <a:pPr algn="l"/>
            <a:r>
              <a:rPr lang="en-US"/>
              <a:t>Sample Footer Text</a:t>
            </a:r>
            <a:endParaRPr lang="en-US" dirty="0"/>
          </a:p>
        </p:txBody>
      </p:sp>
      <p:sp>
        <p:nvSpPr>
          <p:cNvPr id="6" name="Slide Number Placeholder 4"/>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4144176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2"/>
          <p:cNvSpPr>
            <a:spLocks noGrp="1"/>
          </p:cNvSpPr>
          <p:nvPr>
            <p:ph type="ftr" sz="quarter" idx="11"/>
          </p:nvPr>
        </p:nvSpPr>
        <p:spPr/>
        <p:txBody>
          <a:bodyPr/>
          <a:lstStyle/>
          <a:p>
            <a:pPr algn="l"/>
            <a:r>
              <a:rPr lang="en-US"/>
              <a:t>Sample Footer Text</a:t>
            </a:r>
            <a:endParaRPr lang="en-US" dirty="0"/>
          </a:p>
        </p:txBody>
      </p:sp>
      <p:sp>
        <p:nvSpPr>
          <p:cNvPr id="6" name="Slide Number Placeholder 3"/>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60810683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7" name="Date Placeholder 4"/>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5"/>
          <p:cNvSpPr>
            <a:spLocks noGrp="1"/>
          </p:cNvSpPr>
          <p:nvPr>
            <p:ph type="ftr" sz="quarter" idx="11"/>
          </p:nvPr>
        </p:nvSpPr>
        <p:spPr/>
        <p:txBody>
          <a:bodyPr/>
          <a:lstStyle/>
          <a:p>
            <a:pPr algn="l"/>
            <a:r>
              <a:rPr lang="en-US"/>
              <a:t>Sample Footer Text</a:t>
            </a:r>
            <a:endParaRPr lang="en-US" dirty="0"/>
          </a:p>
        </p:txBody>
      </p:sp>
      <p:sp>
        <p:nvSpPr>
          <p:cNvPr id="6"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792061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6" name="Footer Placeholder 5"/>
          <p:cNvSpPr>
            <a:spLocks noGrp="1"/>
          </p:cNvSpPr>
          <p:nvPr>
            <p:ph type="ftr" sz="quarter" idx="11"/>
          </p:nvPr>
        </p:nvSpPr>
        <p:spPr/>
        <p:txBody>
          <a:bodyPr/>
          <a:lstStyle/>
          <a:p>
            <a:pPr algn="l"/>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5956791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6" name="Footer Placeholder 5"/>
          <p:cNvSpPr>
            <a:spLocks noGrp="1"/>
          </p:cNvSpPr>
          <p:nvPr>
            <p:ph type="ftr" sz="quarter" idx="11"/>
          </p:nvPr>
        </p:nvSpPr>
        <p:spPr/>
        <p:txBody>
          <a:bodyPr/>
          <a:lstStyle/>
          <a:p>
            <a:pPr algn="l"/>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9356209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34028475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tr-TR"/>
              <a:t>Asıl başlık stilini düzenlemek için tıklayın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tr-TR"/>
              <a:t>Asıl metin stillerini düzenlemek için tıklayın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0352181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57013745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4"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67302481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4"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9235005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08720841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11"/>
          </p:nvPr>
        </p:nvSpPr>
        <p:spPr/>
        <p:txBody>
          <a:bodyPr/>
          <a:lstStyle/>
          <a:p>
            <a:pPr algn="l"/>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02068992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DEA2CF1-0EB2-4673-802D-3371233E4A77}" type="datetime2">
              <a:rPr lang="en-US" smtClean="0"/>
              <a:t>Wednesday, March 24, 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92251842"/>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paperswithcode.com/task/object-detection/lates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deeplearningbook.org/" TargetMode="External"/><Relationship Id="rId2" Type="http://schemas.openxmlformats.org/officeDocument/2006/relationships/hyperlink" Target="http://introtodeeplearning.com/" TargetMode="External"/><Relationship Id="rId1" Type="http://schemas.openxmlformats.org/officeDocument/2006/relationships/slideLayout" Target="../slideLayouts/slideLayout2.xml"/><Relationship Id="rId6" Type="http://schemas.openxmlformats.org/officeDocument/2006/relationships/hyperlink" Target="https://www.yapayzekatr.com/" TargetMode="External"/><Relationship Id="rId5" Type="http://schemas.openxmlformats.org/officeDocument/2006/relationships/hyperlink" Target="https://www.kaggle.com/" TargetMode="External"/><Relationship Id="rId4" Type="http://schemas.openxmlformats.org/officeDocument/2006/relationships/hyperlink" Target="https://github.com/ayyucekizrak/Kapsamli_Derin_Ogrenme_Rehberi"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www.kaggle.com/datasets?tags=13207-Computer+Vis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569A48-B805-46C9-9D9E-C83B446CA3F8}"/>
              </a:ext>
            </a:extLst>
          </p:cNvPr>
          <p:cNvSpPr>
            <a:spLocks noGrp="1"/>
          </p:cNvSpPr>
          <p:nvPr>
            <p:ph type="ctrTitle"/>
          </p:nvPr>
        </p:nvSpPr>
        <p:spPr>
          <a:xfrm>
            <a:off x="720000" y="720000"/>
            <a:ext cx="5015638" cy="2804400"/>
          </a:xfrm>
        </p:spPr>
        <p:txBody>
          <a:bodyPr>
            <a:normAutofit/>
          </a:bodyPr>
          <a:lstStyle/>
          <a:p>
            <a:r>
              <a:rPr lang="tr-TR" sz="5200"/>
              <a:t>Derin Öğrenme ile Görüntü İşleme</a:t>
            </a:r>
          </a:p>
        </p:txBody>
      </p:sp>
      <p:sp>
        <p:nvSpPr>
          <p:cNvPr id="3" name="Alt Başlık 2">
            <a:extLst>
              <a:ext uri="{FF2B5EF4-FFF2-40B4-BE49-F238E27FC236}">
                <a16:creationId xmlns:a16="http://schemas.microsoft.com/office/drawing/2014/main" id="{AA77CBA2-9B8D-4241-BE8E-D8776BC7968E}"/>
              </a:ext>
            </a:extLst>
          </p:cNvPr>
          <p:cNvSpPr>
            <a:spLocks noGrp="1"/>
          </p:cNvSpPr>
          <p:nvPr>
            <p:ph type="subTitle" idx="1"/>
          </p:nvPr>
        </p:nvSpPr>
        <p:spPr>
          <a:xfrm>
            <a:off x="720000" y="3830399"/>
            <a:ext cx="5015638" cy="1936800"/>
          </a:xfrm>
        </p:spPr>
        <p:txBody>
          <a:bodyPr>
            <a:normAutofit/>
          </a:bodyPr>
          <a:lstStyle/>
          <a:p>
            <a:r>
              <a:rPr lang="tr-TR" dirty="0"/>
              <a:t>Dr. Öğr. Üyesi Hüseyin GÜNEŞ</a:t>
            </a:r>
          </a:p>
        </p:txBody>
      </p:sp>
      <p:pic>
        <p:nvPicPr>
          <p:cNvPr id="4" name="Picture 3" descr="Alacakaranlıkta ormandaki ateş böcekleri">
            <a:extLst>
              <a:ext uri="{FF2B5EF4-FFF2-40B4-BE49-F238E27FC236}">
                <a16:creationId xmlns:a16="http://schemas.microsoft.com/office/drawing/2014/main" id="{24ED60C4-5313-421A-8120-CBF0123CFE37}"/>
              </a:ext>
            </a:extLst>
          </p:cNvPr>
          <p:cNvPicPr>
            <a:picLocks noChangeAspect="1"/>
          </p:cNvPicPr>
          <p:nvPr/>
        </p:nvPicPr>
        <p:blipFill rotWithShape="1">
          <a:blip r:embed="rId2"/>
          <a:srcRect l="12987" r="31690" b="2"/>
          <a:stretch/>
        </p:blipFill>
        <p:spPr>
          <a:xfrm>
            <a:off x="6529067" y="10"/>
            <a:ext cx="5662935" cy="6857990"/>
          </a:xfrm>
          <a:custGeom>
            <a:avLst/>
            <a:gdLst/>
            <a:ahLst/>
            <a:cxnLst/>
            <a:rect l="l" t="t" r="r" b="b"/>
            <a:pathLst>
              <a:path w="5662935" h="6858000">
                <a:moveTo>
                  <a:pt x="598332" y="0"/>
                </a:moveTo>
                <a:lnTo>
                  <a:pt x="5662935" y="0"/>
                </a:lnTo>
                <a:lnTo>
                  <a:pt x="5662935" y="6858000"/>
                </a:lnTo>
                <a:lnTo>
                  <a:pt x="0" y="6858000"/>
                </a:lnTo>
                <a:lnTo>
                  <a:pt x="78957" y="6777438"/>
                </a:lnTo>
                <a:cubicBezTo>
                  <a:pt x="291624" y="6544265"/>
                  <a:pt x="490445" y="6275955"/>
                  <a:pt x="672224" y="5969316"/>
                </a:cubicBezTo>
                <a:cubicBezTo>
                  <a:pt x="914597" y="5515036"/>
                  <a:pt x="1066080" y="5030470"/>
                  <a:pt x="1217563" y="4515619"/>
                </a:cubicBezTo>
                <a:cubicBezTo>
                  <a:pt x="1338748" y="3970483"/>
                  <a:pt x="1399341" y="3516203"/>
                  <a:pt x="1399341" y="3061922"/>
                </a:cubicBezTo>
                <a:cubicBezTo>
                  <a:pt x="1399341" y="1948936"/>
                  <a:pt x="1190580" y="1021447"/>
                  <a:pt x="773055" y="279455"/>
                </a:cubicBezTo>
                <a:close/>
              </a:path>
            </a:pathLst>
          </a:custGeom>
        </p:spPr>
      </p:pic>
    </p:spTree>
    <p:extLst>
      <p:ext uri="{BB962C8B-B14F-4D97-AF65-F5344CB8AC3E}">
        <p14:creationId xmlns:p14="http://schemas.microsoft.com/office/powerpoint/2010/main" val="3840123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4A442CC-175C-479B-B8E1-C0330F18C95C}"/>
              </a:ext>
            </a:extLst>
          </p:cNvPr>
          <p:cNvSpPr>
            <a:spLocks noGrp="1"/>
          </p:cNvSpPr>
          <p:nvPr>
            <p:ph type="title"/>
          </p:nvPr>
        </p:nvSpPr>
        <p:spPr>
          <a:xfrm>
            <a:off x="5411931" y="452718"/>
            <a:ext cx="4638903" cy="1400530"/>
          </a:xfrm>
        </p:spPr>
        <p:txBody>
          <a:bodyPr>
            <a:normAutofit/>
          </a:bodyPr>
          <a:lstStyle/>
          <a:p>
            <a:r>
              <a:rPr lang="tr-TR" dirty="0"/>
              <a:t>Kavramlar</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Şirin sarı robot">
            <a:extLst>
              <a:ext uri="{FF2B5EF4-FFF2-40B4-BE49-F238E27FC236}">
                <a16:creationId xmlns:a16="http://schemas.microsoft.com/office/drawing/2014/main" id="{379625A1-18D2-41B4-B345-11E18529A482}"/>
              </a:ext>
            </a:extLst>
          </p:cNvPr>
          <p:cNvPicPr>
            <a:picLocks noChangeAspect="1"/>
          </p:cNvPicPr>
          <p:nvPr/>
        </p:nvPicPr>
        <p:blipFill rotWithShape="1">
          <a:blip r:embed="rId3"/>
          <a:srcRect l="48590" r="3005"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3" name="Rectangle 1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İçerik Yer Tutucusu 2">
            <a:extLst>
              <a:ext uri="{FF2B5EF4-FFF2-40B4-BE49-F238E27FC236}">
                <a16:creationId xmlns:a16="http://schemas.microsoft.com/office/drawing/2014/main" id="{D6916A5A-4A13-4CE6-86CF-C3127B9F01A2}"/>
              </a:ext>
            </a:extLst>
          </p:cNvPr>
          <p:cNvSpPr>
            <a:spLocks noGrp="1"/>
          </p:cNvSpPr>
          <p:nvPr>
            <p:ph idx="1"/>
          </p:nvPr>
        </p:nvSpPr>
        <p:spPr>
          <a:xfrm>
            <a:off x="5410950" y="2052918"/>
            <a:ext cx="4638903" cy="4195481"/>
          </a:xfrm>
        </p:spPr>
        <p:txBody>
          <a:bodyPr>
            <a:normAutofit/>
          </a:bodyPr>
          <a:lstStyle/>
          <a:p>
            <a:r>
              <a:rPr lang="tr-TR" dirty="0"/>
              <a:t>Zeka</a:t>
            </a:r>
          </a:p>
          <a:p>
            <a:r>
              <a:rPr lang="tr-TR" dirty="0"/>
              <a:t>Yapay Zeka</a:t>
            </a:r>
          </a:p>
          <a:p>
            <a:r>
              <a:rPr lang="tr-TR" dirty="0"/>
              <a:t>Makine Öğrenmesi</a:t>
            </a:r>
          </a:p>
          <a:p>
            <a:r>
              <a:rPr lang="tr-TR" dirty="0"/>
              <a:t>Derin Öğrenme</a:t>
            </a:r>
          </a:p>
          <a:p>
            <a:r>
              <a:rPr lang="tr-TR" dirty="0"/>
              <a:t>Görüntü İşleme</a:t>
            </a:r>
          </a:p>
        </p:txBody>
      </p:sp>
    </p:spTree>
    <p:extLst>
      <p:ext uri="{BB962C8B-B14F-4D97-AF65-F5344CB8AC3E}">
        <p14:creationId xmlns:p14="http://schemas.microsoft.com/office/powerpoint/2010/main" val="115479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331F6A-DA09-422D-8CED-00C0B4585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7C2F65-00C4-451C-8BFA-E765DEC17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733" y="0"/>
            <a:ext cx="321564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8B89F8A-7F1C-493A-A51D-051B09C563FB}"/>
              </a:ext>
            </a:extLst>
          </p:cNvPr>
          <p:cNvSpPr>
            <a:spLocks noGrp="1"/>
          </p:cNvSpPr>
          <p:nvPr>
            <p:ph type="title"/>
          </p:nvPr>
        </p:nvSpPr>
        <p:spPr>
          <a:xfrm>
            <a:off x="7825169" y="1447799"/>
            <a:ext cx="2731458" cy="4766734"/>
          </a:xfrm>
        </p:spPr>
        <p:txBody>
          <a:bodyPr anchor="t">
            <a:normAutofit/>
          </a:bodyPr>
          <a:lstStyle/>
          <a:p>
            <a:r>
              <a:rPr lang="tr-TR" sz="4000" dirty="0">
                <a:solidFill>
                  <a:schemeClr val="tx1"/>
                </a:solidFill>
              </a:rPr>
              <a:t>Zekâ</a:t>
            </a:r>
          </a:p>
        </p:txBody>
      </p:sp>
      <p:sp>
        <p:nvSpPr>
          <p:cNvPr id="12" name="Rectangle 11">
            <a:extLst>
              <a:ext uri="{FF2B5EF4-FFF2-40B4-BE49-F238E27FC236}">
                <a16:creationId xmlns:a16="http://schemas.microsoft.com/office/drawing/2014/main" id="{50DDF752-B2A6-49DC-B474-8E1F71AFF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64859" y="0"/>
            <a:ext cx="1438656" cy="6858000"/>
          </a:xfrm>
          <a:prstGeom prst="rect">
            <a:avLst/>
          </a:prstGeom>
          <a:solidFill>
            <a:schemeClr val="bg2">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İçerik Yer Tutucusu 2">
            <a:extLst>
              <a:ext uri="{FF2B5EF4-FFF2-40B4-BE49-F238E27FC236}">
                <a16:creationId xmlns:a16="http://schemas.microsoft.com/office/drawing/2014/main" id="{DD18EE81-A096-4332-803C-F0E9403BAD9C}"/>
              </a:ext>
            </a:extLst>
          </p:cNvPr>
          <p:cNvSpPr>
            <a:spLocks noGrp="1"/>
          </p:cNvSpPr>
          <p:nvPr>
            <p:ph idx="1"/>
          </p:nvPr>
        </p:nvSpPr>
        <p:spPr>
          <a:xfrm>
            <a:off x="643467" y="1447798"/>
            <a:ext cx="6282984" cy="4766735"/>
          </a:xfrm>
        </p:spPr>
        <p:txBody>
          <a:bodyPr anchor="t">
            <a:normAutofit/>
          </a:bodyPr>
          <a:lstStyle/>
          <a:p>
            <a:r>
              <a:rPr lang="tr-TR" dirty="0"/>
              <a:t>Zekâ: İnsanın düşünme, akıl yürütme, nesnel gerçekleri algılama, kavrama, yargılama ve sonuç çıkarma yeteneklerinin tümü.</a:t>
            </a:r>
          </a:p>
          <a:p>
            <a:r>
              <a:rPr lang="tr-TR" dirty="0"/>
              <a:t>Zekâ: Zihnin öğrenme, öğrenilenden yararlanabilme, yeni durumlara uyabilme ve yeni çözüm yolları bulabilme yeteneği.</a:t>
            </a:r>
          </a:p>
          <a:p>
            <a:r>
              <a:rPr lang="tr-TR" dirty="0"/>
              <a:t>Zekâ: Yeni durumlara uyum sağlayabilme yeteneği.</a:t>
            </a:r>
          </a:p>
        </p:txBody>
      </p:sp>
    </p:spTree>
    <p:extLst>
      <p:ext uri="{BB962C8B-B14F-4D97-AF65-F5344CB8AC3E}">
        <p14:creationId xmlns:p14="http://schemas.microsoft.com/office/powerpoint/2010/main" val="560196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331F6A-DA09-422D-8CED-00C0B4585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7C2F65-00C4-451C-8BFA-E765DEC17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733" y="0"/>
            <a:ext cx="321564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028AE94-D52B-49E8-8A21-B1AAE4742808}"/>
              </a:ext>
            </a:extLst>
          </p:cNvPr>
          <p:cNvSpPr>
            <a:spLocks noGrp="1"/>
          </p:cNvSpPr>
          <p:nvPr>
            <p:ph type="title"/>
          </p:nvPr>
        </p:nvSpPr>
        <p:spPr>
          <a:xfrm>
            <a:off x="7825169" y="1447799"/>
            <a:ext cx="2731458" cy="4766734"/>
          </a:xfrm>
        </p:spPr>
        <p:txBody>
          <a:bodyPr anchor="t">
            <a:normAutofit/>
          </a:bodyPr>
          <a:lstStyle/>
          <a:p>
            <a:r>
              <a:rPr lang="tr-TR" sz="4000">
                <a:solidFill>
                  <a:schemeClr val="tx1"/>
                </a:solidFill>
              </a:rPr>
              <a:t>Yapay Zekâ</a:t>
            </a:r>
          </a:p>
        </p:txBody>
      </p:sp>
      <p:sp>
        <p:nvSpPr>
          <p:cNvPr id="12" name="Rectangle 11">
            <a:extLst>
              <a:ext uri="{FF2B5EF4-FFF2-40B4-BE49-F238E27FC236}">
                <a16:creationId xmlns:a16="http://schemas.microsoft.com/office/drawing/2014/main" id="{50DDF752-B2A6-49DC-B474-8E1F71AFF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64859" y="0"/>
            <a:ext cx="1438656" cy="6858000"/>
          </a:xfrm>
          <a:prstGeom prst="rect">
            <a:avLst/>
          </a:prstGeom>
          <a:solidFill>
            <a:schemeClr val="bg2">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İçerik Yer Tutucusu 2">
            <a:extLst>
              <a:ext uri="{FF2B5EF4-FFF2-40B4-BE49-F238E27FC236}">
                <a16:creationId xmlns:a16="http://schemas.microsoft.com/office/drawing/2014/main" id="{3DFF0342-1790-40BD-AE92-2CE4C7B2B5CE}"/>
              </a:ext>
            </a:extLst>
          </p:cNvPr>
          <p:cNvSpPr>
            <a:spLocks noGrp="1"/>
          </p:cNvSpPr>
          <p:nvPr>
            <p:ph idx="1"/>
          </p:nvPr>
        </p:nvSpPr>
        <p:spPr>
          <a:xfrm>
            <a:off x="643467" y="1447798"/>
            <a:ext cx="6282984" cy="4766735"/>
          </a:xfrm>
        </p:spPr>
        <p:txBody>
          <a:bodyPr anchor="t">
            <a:normAutofit/>
          </a:bodyPr>
          <a:lstStyle/>
          <a:p>
            <a:r>
              <a:rPr lang="tr-TR" dirty="0"/>
              <a:t>Yapay zekâ, bir bilgisayarın veya bilgisayar kontrolündeki bir robotun çeşitli faaliyetleri zeki canlılara benzer şekilde yerine getirme kabiliyeti.</a:t>
            </a:r>
          </a:p>
        </p:txBody>
      </p:sp>
    </p:spTree>
    <p:extLst>
      <p:ext uri="{BB962C8B-B14F-4D97-AF65-F5344CB8AC3E}">
        <p14:creationId xmlns:p14="http://schemas.microsoft.com/office/powerpoint/2010/main" val="223401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331F6A-DA09-422D-8CED-00C0B4585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7C2F65-00C4-451C-8BFA-E765DEC17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733" y="0"/>
            <a:ext cx="321564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093F97C-B489-480E-B1CA-72C8753B671B}"/>
              </a:ext>
            </a:extLst>
          </p:cNvPr>
          <p:cNvSpPr>
            <a:spLocks noGrp="1"/>
          </p:cNvSpPr>
          <p:nvPr>
            <p:ph type="title"/>
          </p:nvPr>
        </p:nvSpPr>
        <p:spPr>
          <a:xfrm>
            <a:off x="7825169" y="1447799"/>
            <a:ext cx="2731458" cy="4766734"/>
          </a:xfrm>
        </p:spPr>
        <p:txBody>
          <a:bodyPr anchor="t">
            <a:normAutofit/>
          </a:bodyPr>
          <a:lstStyle/>
          <a:p>
            <a:r>
              <a:rPr lang="tr-TR" sz="3700" dirty="0">
                <a:solidFill>
                  <a:schemeClr val="tx1"/>
                </a:solidFill>
              </a:rPr>
              <a:t>Makine Öğrenmesi</a:t>
            </a:r>
          </a:p>
        </p:txBody>
      </p:sp>
      <p:sp>
        <p:nvSpPr>
          <p:cNvPr id="12" name="Rectangle 11">
            <a:extLst>
              <a:ext uri="{FF2B5EF4-FFF2-40B4-BE49-F238E27FC236}">
                <a16:creationId xmlns:a16="http://schemas.microsoft.com/office/drawing/2014/main" id="{50DDF752-B2A6-49DC-B474-8E1F71AFF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64859" y="0"/>
            <a:ext cx="1438656" cy="6858000"/>
          </a:xfrm>
          <a:prstGeom prst="rect">
            <a:avLst/>
          </a:prstGeom>
          <a:solidFill>
            <a:schemeClr val="bg2">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İçerik Yer Tutucusu 2">
            <a:extLst>
              <a:ext uri="{FF2B5EF4-FFF2-40B4-BE49-F238E27FC236}">
                <a16:creationId xmlns:a16="http://schemas.microsoft.com/office/drawing/2014/main" id="{89528DC6-B533-4430-81B5-2ED7721E6135}"/>
              </a:ext>
            </a:extLst>
          </p:cNvPr>
          <p:cNvSpPr>
            <a:spLocks noGrp="1"/>
          </p:cNvSpPr>
          <p:nvPr>
            <p:ph idx="1"/>
          </p:nvPr>
        </p:nvSpPr>
        <p:spPr>
          <a:xfrm>
            <a:off x="643467" y="1447798"/>
            <a:ext cx="6282984" cy="4766735"/>
          </a:xfrm>
        </p:spPr>
        <p:txBody>
          <a:bodyPr anchor="t">
            <a:normAutofit/>
          </a:bodyPr>
          <a:lstStyle/>
          <a:p>
            <a:r>
              <a:rPr lang="tr-TR" dirty="0"/>
              <a:t>Makine öğrenmesi esas olarak 1959 yılında bilgisayar biliminin yapay zekada sayısal öğrenme ve model tanıma çalışmalarından geliştirilmiş bir alt dalıdır. Makine öğrenmesi yapısal işlev olarak öğrenebilen ve veriler üzerinden tahmin yapabilen algoritmaların çalışma ve inşalarını araştıran bir sistemdir. Bu tür algoritmalar statik program talimatlarını harfiyen takip etmek yerine örnek girişlerden veri tabanlı tahminleri ve kararları gerçekleştirebilmek amacıyla bir model inşa ederek çalışırlar.</a:t>
            </a:r>
          </a:p>
        </p:txBody>
      </p:sp>
    </p:spTree>
    <p:extLst>
      <p:ext uri="{BB962C8B-B14F-4D97-AF65-F5344CB8AC3E}">
        <p14:creationId xmlns:p14="http://schemas.microsoft.com/office/powerpoint/2010/main" val="411257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5" name="Picture 4" descr="Verilerden oluşan soyut arka plan">
            <a:extLst>
              <a:ext uri="{FF2B5EF4-FFF2-40B4-BE49-F238E27FC236}">
                <a16:creationId xmlns:a16="http://schemas.microsoft.com/office/drawing/2014/main" id="{6BE50A04-BE88-4FB8-8211-ACD8BE38EAF8}"/>
              </a:ext>
            </a:extLst>
          </p:cNvPr>
          <p:cNvPicPr>
            <a:picLocks noChangeAspect="1"/>
          </p:cNvPicPr>
          <p:nvPr/>
        </p:nvPicPr>
        <p:blipFill rotWithShape="1">
          <a:blip r:embed="rId7">
            <a:duotone>
              <a:prstClr val="black"/>
              <a:schemeClr val="accent5">
                <a:tint val="45000"/>
                <a:satMod val="400000"/>
              </a:schemeClr>
            </a:duotone>
            <a:alphaModFix amt="25000"/>
          </a:blip>
          <a:srcRect/>
          <a:stretch/>
        </p:blipFill>
        <p:spPr>
          <a:xfrm>
            <a:off x="20" y="10"/>
            <a:ext cx="12191980" cy="6857990"/>
          </a:xfrm>
          <a:prstGeom prst="rect">
            <a:avLst/>
          </a:prstGeom>
        </p:spPr>
      </p:pic>
      <p:sp>
        <p:nvSpPr>
          <p:cNvPr id="2" name="Başlık 1">
            <a:extLst>
              <a:ext uri="{FF2B5EF4-FFF2-40B4-BE49-F238E27FC236}">
                <a16:creationId xmlns:a16="http://schemas.microsoft.com/office/drawing/2014/main" id="{6317BC33-043C-44D2-972E-D4D53539AF49}"/>
              </a:ext>
            </a:extLst>
          </p:cNvPr>
          <p:cNvSpPr>
            <a:spLocks noGrp="1"/>
          </p:cNvSpPr>
          <p:nvPr>
            <p:ph type="title"/>
          </p:nvPr>
        </p:nvSpPr>
        <p:spPr>
          <a:xfrm>
            <a:off x="1154955" y="1447800"/>
            <a:ext cx="8825658" cy="3329581"/>
          </a:xfrm>
        </p:spPr>
        <p:txBody>
          <a:bodyPr vert="horz" lIns="91440" tIns="45720" rIns="91440" bIns="45720" rtlCol="0" anchor="b">
            <a:normAutofit/>
          </a:bodyPr>
          <a:lstStyle/>
          <a:p>
            <a:r>
              <a:rPr lang="en-US" sz="7200"/>
              <a:t>Derin Öğrenme</a:t>
            </a:r>
          </a:p>
        </p:txBody>
      </p:sp>
      <p:sp>
        <p:nvSpPr>
          <p:cNvPr id="21" name="Rectangle 2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14653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331F6A-DA09-422D-8CED-00C0B4585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7C2F65-00C4-451C-8BFA-E765DEC17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733" y="0"/>
            <a:ext cx="321564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CBAD2D8-982E-463B-8F3F-5E1DED06B2B3}"/>
              </a:ext>
            </a:extLst>
          </p:cNvPr>
          <p:cNvSpPr>
            <a:spLocks noGrp="1"/>
          </p:cNvSpPr>
          <p:nvPr>
            <p:ph type="title"/>
          </p:nvPr>
        </p:nvSpPr>
        <p:spPr>
          <a:xfrm>
            <a:off x="7825169" y="1447799"/>
            <a:ext cx="2731458" cy="4766734"/>
          </a:xfrm>
        </p:spPr>
        <p:txBody>
          <a:bodyPr anchor="t">
            <a:normAutofit/>
          </a:bodyPr>
          <a:lstStyle/>
          <a:p>
            <a:r>
              <a:rPr lang="tr-TR" sz="4000">
                <a:solidFill>
                  <a:schemeClr val="tx1"/>
                </a:solidFill>
              </a:rPr>
              <a:t>Derin Öğrenme</a:t>
            </a:r>
          </a:p>
        </p:txBody>
      </p:sp>
      <p:sp>
        <p:nvSpPr>
          <p:cNvPr id="12" name="Rectangle 11">
            <a:extLst>
              <a:ext uri="{FF2B5EF4-FFF2-40B4-BE49-F238E27FC236}">
                <a16:creationId xmlns:a16="http://schemas.microsoft.com/office/drawing/2014/main" id="{50DDF752-B2A6-49DC-B474-8E1F71AFF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64859" y="0"/>
            <a:ext cx="1438656" cy="6858000"/>
          </a:xfrm>
          <a:prstGeom prst="rect">
            <a:avLst/>
          </a:prstGeom>
          <a:solidFill>
            <a:schemeClr val="bg2">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İçerik Yer Tutucusu 2">
            <a:extLst>
              <a:ext uri="{FF2B5EF4-FFF2-40B4-BE49-F238E27FC236}">
                <a16:creationId xmlns:a16="http://schemas.microsoft.com/office/drawing/2014/main" id="{3F8A6BCF-58BE-4342-87AD-9A993B856EE2}"/>
              </a:ext>
            </a:extLst>
          </p:cNvPr>
          <p:cNvSpPr>
            <a:spLocks noGrp="1"/>
          </p:cNvSpPr>
          <p:nvPr>
            <p:ph idx="1"/>
          </p:nvPr>
        </p:nvSpPr>
        <p:spPr>
          <a:xfrm>
            <a:off x="643467" y="1447798"/>
            <a:ext cx="6282984" cy="4766735"/>
          </a:xfrm>
        </p:spPr>
        <p:txBody>
          <a:bodyPr anchor="t">
            <a:normAutofit/>
          </a:bodyPr>
          <a:lstStyle/>
          <a:p>
            <a:r>
              <a:rPr lang="tr-TR" dirty="0"/>
              <a:t>Derin öğrenme, verilen bir veri seti ile sonuçları tahmin eden birden fazla katmandan oluşan bir makine öğrenme yöntemidir.</a:t>
            </a:r>
          </a:p>
        </p:txBody>
      </p:sp>
    </p:spTree>
    <p:extLst>
      <p:ext uri="{BB962C8B-B14F-4D97-AF65-F5344CB8AC3E}">
        <p14:creationId xmlns:p14="http://schemas.microsoft.com/office/powerpoint/2010/main" val="625897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C20E19-2BF3-45B1-9703-7AF9BCFE9C14}"/>
              </a:ext>
            </a:extLst>
          </p:cNvPr>
          <p:cNvSpPr>
            <a:spLocks noGrp="1"/>
          </p:cNvSpPr>
          <p:nvPr>
            <p:ph type="title"/>
          </p:nvPr>
        </p:nvSpPr>
        <p:spPr/>
        <p:txBody>
          <a:bodyPr/>
          <a:lstStyle/>
          <a:p>
            <a:r>
              <a:rPr lang="tr-TR" dirty="0"/>
              <a:t>Derin Öğrenmenin Farkı</a:t>
            </a:r>
          </a:p>
        </p:txBody>
      </p:sp>
      <p:sp>
        <p:nvSpPr>
          <p:cNvPr id="3" name="İçerik Yer Tutucusu 2">
            <a:extLst>
              <a:ext uri="{FF2B5EF4-FFF2-40B4-BE49-F238E27FC236}">
                <a16:creationId xmlns:a16="http://schemas.microsoft.com/office/drawing/2014/main" id="{30302F18-03C6-40DC-8D5E-74364939D4EB}"/>
              </a:ext>
            </a:extLst>
          </p:cNvPr>
          <p:cNvSpPr>
            <a:spLocks noGrp="1"/>
          </p:cNvSpPr>
          <p:nvPr>
            <p:ph idx="1"/>
          </p:nvPr>
        </p:nvSpPr>
        <p:spPr/>
        <p:txBody>
          <a:bodyPr/>
          <a:lstStyle/>
          <a:p>
            <a:r>
              <a:rPr lang="tr-TR" dirty="0"/>
              <a:t>Klasik yöntemde örneğin bir muz resmi ile portakal resmini ayırmamız gerekiyor.</a:t>
            </a:r>
          </a:p>
          <a:p>
            <a:r>
              <a:rPr lang="tr-TR" dirty="0"/>
              <a:t>Normal öğrenmede, insanoğlunun bugüne kadar edinmiş olduğu tecrübeleri, parametreler vasıtasıyla makineye tanıtırız. Örneğin turuncu ise muhtemelen portakaldır, sarı ise muzdur vb. Yuvarlak ise muhtemelen portakaldır, yay şeklindeyse muhtemelen muzdur gibi </a:t>
            </a:r>
            <a:r>
              <a:rPr lang="tr-TR" b="1" dirty="0"/>
              <a:t>birçok parametreyi bizim tanımlamamız gerekir</a:t>
            </a:r>
            <a:r>
              <a:rPr lang="tr-TR" dirty="0"/>
              <a:t>.</a:t>
            </a:r>
          </a:p>
          <a:p>
            <a:r>
              <a:rPr lang="tr-TR" dirty="0"/>
              <a:t>Derin öğrenmede ise s</a:t>
            </a:r>
            <a:r>
              <a:rPr lang="es-ES" dirty="0"/>
              <a:t>adece portakal ve muz resimlerini </a:t>
            </a:r>
            <a:r>
              <a:rPr lang="tr-TR" dirty="0"/>
              <a:t>bu muz bu portakal diye sisteme bildiririz. Onun ayırt edici özelliklerini derin </a:t>
            </a:r>
            <a:r>
              <a:rPr lang="tr-TR" b="1" dirty="0"/>
              <a:t>öğrenme modeli kendisi fark eder</a:t>
            </a:r>
            <a:r>
              <a:rPr lang="tr-TR" dirty="0"/>
              <a:t>.</a:t>
            </a:r>
          </a:p>
        </p:txBody>
      </p:sp>
    </p:spTree>
    <p:extLst>
      <p:ext uri="{BB962C8B-B14F-4D97-AF65-F5344CB8AC3E}">
        <p14:creationId xmlns:p14="http://schemas.microsoft.com/office/powerpoint/2010/main" val="132019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0A96F5C3-DDAD-4797-A3DA-46DF842DF844}"/>
              </a:ext>
            </a:extLst>
          </p:cNvPr>
          <p:cNvSpPr>
            <a:spLocks noGrp="1"/>
          </p:cNvSpPr>
          <p:nvPr>
            <p:ph type="title"/>
          </p:nvPr>
        </p:nvSpPr>
        <p:spPr/>
        <p:txBody>
          <a:bodyPr/>
          <a:lstStyle/>
          <a:p>
            <a:r>
              <a:rPr lang="tr-TR" dirty="0"/>
              <a:t>Derin Öğrenme</a:t>
            </a:r>
          </a:p>
        </p:txBody>
      </p:sp>
      <p:pic>
        <p:nvPicPr>
          <p:cNvPr id="1026" name="Picture 2">
            <a:extLst>
              <a:ext uri="{FF2B5EF4-FFF2-40B4-BE49-F238E27FC236}">
                <a16:creationId xmlns:a16="http://schemas.microsoft.com/office/drawing/2014/main" id="{6D8623BD-3CD0-4EF5-A519-B9001B3426E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5915" b="90922" l="7867" r="90933">
                        <a14:foregroundMark x1="41067" y1="9629" x2="41067" y2="9629"/>
                        <a14:foregroundMark x1="49867" y1="6052" x2="49867" y2="6052"/>
                        <a14:foregroundMark x1="34000" y1="14168" x2="34000" y2="14168"/>
                        <a14:foregroundMark x1="7867" y1="44842" x2="7867" y2="44842"/>
                        <a14:foregroundMark x1="47733" y1="91059" x2="47733" y2="91059"/>
                        <a14:foregroundMark x1="90933" y1="47455" x2="90933" y2="47455"/>
                      </a14:backgroundRemoval>
                    </a14:imgEffect>
                  </a14:imgLayer>
                </a14:imgProps>
              </a:ext>
              <a:ext uri="{28A0092B-C50C-407E-A947-70E740481C1C}">
                <a14:useLocalDpi xmlns:a14="http://schemas.microsoft.com/office/drawing/2010/main" val="0"/>
              </a:ext>
            </a:extLst>
          </a:blip>
          <a:srcRect/>
          <a:stretch>
            <a:fillRect/>
          </a:stretch>
        </p:blipFill>
        <p:spPr bwMode="auto">
          <a:xfrm>
            <a:off x="2926080" y="855355"/>
            <a:ext cx="6193007" cy="6002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59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261B45-A0A1-4179-827B-061EC07BC7A5}"/>
              </a:ext>
            </a:extLst>
          </p:cNvPr>
          <p:cNvSpPr>
            <a:spLocks noGrp="1"/>
          </p:cNvSpPr>
          <p:nvPr>
            <p:ph type="title"/>
          </p:nvPr>
        </p:nvSpPr>
        <p:spPr/>
        <p:txBody>
          <a:bodyPr/>
          <a:lstStyle/>
          <a:p>
            <a:r>
              <a:rPr lang="tr-TR" dirty="0"/>
              <a:t>Derin Öğrenme</a:t>
            </a:r>
          </a:p>
        </p:txBody>
      </p:sp>
      <p:sp>
        <p:nvSpPr>
          <p:cNvPr id="3" name="İçerik Yer Tutucusu 2">
            <a:extLst>
              <a:ext uri="{FF2B5EF4-FFF2-40B4-BE49-F238E27FC236}">
                <a16:creationId xmlns:a16="http://schemas.microsoft.com/office/drawing/2014/main" id="{0911025B-F95F-4A12-8F4A-46039DD2E026}"/>
              </a:ext>
            </a:extLst>
          </p:cNvPr>
          <p:cNvSpPr>
            <a:spLocks noGrp="1"/>
          </p:cNvSpPr>
          <p:nvPr>
            <p:ph idx="1"/>
          </p:nvPr>
        </p:nvSpPr>
        <p:spPr/>
        <p:txBody>
          <a:bodyPr>
            <a:normAutofit fontScale="77500" lnSpcReduction="20000"/>
          </a:bodyPr>
          <a:lstStyle/>
          <a:p>
            <a:r>
              <a:rPr lang="tr-TR" dirty="0"/>
              <a:t>Derin öğrenme (aynı zamanda derin yapılandırılmış öğrenme, hiyerarşik öğrenme ya da derin makine öğrenmesi) bir veya daha fazla gizli katman içeren yapay sinir ağları ve benzeri makine öğrenme algoritmalarını kapsayan çalışma alanıdır.</a:t>
            </a:r>
          </a:p>
          <a:p>
            <a:endParaRPr lang="tr-TR" dirty="0"/>
          </a:p>
          <a:p>
            <a:r>
              <a:rPr lang="tr-TR" dirty="0"/>
              <a:t>Yani en az bir adet yapay sinir ağının (YSA) kullanıldığı ve </a:t>
            </a:r>
            <a:r>
              <a:rPr lang="tr-TR" dirty="0">
                <a:solidFill>
                  <a:srgbClr val="FF0000"/>
                </a:solidFill>
              </a:rPr>
              <a:t>birçok</a:t>
            </a:r>
            <a:r>
              <a:rPr lang="tr-TR" dirty="0"/>
              <a:t> algoritma ile, bilgisayarın eldeki verilerden yeni veriler elde etmesidir.</a:t>
            </a:r>
          </a:p>
          <a:p>
            <a:pPr lvl="1"/>
            <a:r>
              <a:rPr lang="tr-TR" dirty="0"/>
              <a:t>Gri Tonlama</a:t>
            </a:r>
          </a:p>
          <a:p>
            <a:pPr lvl="1"/>
            <a:r>
              <a:rPr lang="tr-TR" dirty="0" err="1"/>
              <a:t>Eşikleme</a:t>
            </a:r>
            <a:r>
              <a:rPr lang="tr-TR" dirty="0"/>
              <a:t> -&gt; Siyah Beyaz</a:t>
            </a:r>
          </a:p>
          <a:p>
            <a:pPr lvl="1"/>
            <a:r>
              <a:rPr lang="tr-TR" dirty="0"/>
              <a:t>1024*768</a:t>
            </a:r>
          </a:p>
          <a:p>
            <a:pPr lvl="1"/>
            <a:r>
              <a:rPr lang="tr-TR" dirty="0" err="1"/>
              <a:t>Selective</a:t>
            </a:r>
            <a:r>
              <a:rPr lang="tr-TR" dirty="0"/>
              <a:t> </a:t>
            </a:r>
            <a:r>
              <a:rPr lang="tr-TR" dirty="0" err="1"/>
              <a:t>Search</a:t>
            </a:r>
            <a:endParaRPr lang="tr-TR" dirty="0"/>
          </a:p>
          <a:p>
            <a:pPr lvl="1"/>
            <a:r>
              <a:rPr lang="tr-TR" dirty="0"/>
              <a:t>CNN</a:t>
            </a:r>
          </a:p>
          <a:p>
            <a:pPr marL="0" indent="0">
              <a:buNone/>
            </a:pPr>
            <a:endParaRPr lang="tr-TR" dirty="0"/>
          </a:p>
          <a:p>
            <a:r>
              <a:rPr lang="tr-TR" dirty="0"/>
              <a:t>Derin öğrenme gözetimli, yarı gözetimli veya gözetimsiz olarak gerçekleştirilebilir. Derin yapay sinir ağları pekiştirmeli öğrenme yaklaşımıyla da başarılı sonuçlar vermiştir.</a:t>
            </a:r>
          </a:p>
        </p:txBody>
      </p:sp>
    </p:spTree>
    <p:extLst>
      <p:ext uri="{BB962C8B-B14F-4D97-AF65-F5344CB8AC3E}">
        <p14:creationId xmlns:p14="http://schemas.microsoft.com/office/powerpoint/2010/main" val="3969116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F70F67-648E-43C7-9A5F-9CEB8CB2D48A}"/>
              </a:ext>
            </a:extLst>
          </p:cNvPr>
          <p:cNvSpPr>
            <a:spLocks noGrp="1"/>
          </p:cNvSpPr>
          <p:nvPr>
            <p:ph type="title"/>
          </p:nvPr>
        </p:nvSpPr>
        <p:spPr/>
        <p:txBody>
          <a:bodyPr/>
          <a:lstStyle/>
          <a:p>
            <a:r>
              <a:rPr lang="tr-TR" dirty="0"/>
              <a:t>Derin Öğrenme</a:t>
            </a:r>
          </a:p>
        </p:txBody>
      </p:sp>
      <p:sp>
        <p:nvSpPr>
          <p:cNvPr id="3" name="İçerik Yer Tutucusu 2">
            <a:extLst>
              <a:ext uri="{FF2B5EF4-FFF2-40B4-BE49-F238E27FC236}">
                <a16:creationId xmlns:a16="http://schemas.microsoft.com/office/drawing/2014/main" id="{723759C0-2F49-4118-A9F0-DB10CD662497}"/>
              </a:ext>
            </a:extLst>
          </p:cNvPr>
          <p:cNvSpPr>
            <a:spLocks noGrp="1"/>
          </p:cNvSpPr>
          <p:nvPr>
            <p:ph idx="1"/>
          </p:nvPr>
        </p:nvSpPr>
        <p:spPr/>
        <p:txBody>
          <a:bodyPr/>
          <a:lstStyle/>
          <a:p>
            <a:r>
              <a:rPr lang="tr-TR" dirty="0"/>
              <a:t>Derin öğrenme, nesne tanıma, konuşma tanıma, doğal dil işleme gibi alanlarda çok katmanlı yapay sinir ağlarını kullanan bir yapay zekâ yöntemi olup makine öğrenmesinin çeşitlerinden biridir.</a:t>
            </a:r>
          </a:p>
          <a:p>
            <a:r>
              <a:rPr lang="tr-TR" dirty="0"/>
              <a:t>Derin öğrenme, geleneksel makine öğrenmesi yöntemlerinden farklı olarak kodlanmış kurallar ile öğrenmek yerine; resim, video, ses ve metinlere ait verilerin simgelerinden otomatik olarak öğrenebilmektedir.</a:t>
            </a:r>
          </a:p>
          <a:p>
            <a:r>
              <a:rPr lang="tr-TR" dirty="0"/>
              <a:t>Esnek yapıları sayesinde ham resim ya da metin verisinden de öğrenebilmektedir.</a:t>
            </a:r>
          </a:p>
          <a:p>
            <a:r>
              <a:rPr lang="tr-TR" dirty="0"/>
              <a:t>Eldeki verinin büyüklüğüne göre tahmin doğruluğu artabilmektedir.</a:t>
            </a:r>
          </a:p>
        </p:txBody>
      </p:sp>
    </p:spTree>
    <p:extLst>
      <p:ext uri="{BB962C8B-B14F-4D97-AF65-F5344CB8AC3E}">
        <p14:creationId xmlns:p14="http://schemas.microsoft.com/office/powerpoint/2010/main" val="425711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24FFBEF-A07E-471E-9673-7557C72F50E6}"/>
              </a:ext>
            </a:extLst>
          </p:cNvPr>
          <p:cNvSpPr>
            <a:spLocks noGrp="1"/>
          </p:cNvSpPr>
          <p:nvPr>
            <p:ph type="title"/>
          </p:nvPr>
        </p:nvSpPr>
        <p:spPr/>
        <p:txBody>
          <a:bodyPr/>
          <a:lstStyle/>
          <a:p>
            <a:r>
              <a:rPr lang="tr-TR" dirty="0"/>
              <a:t>Derin Öğrenme</a:t>
            </a:r>
          </a:p>
        </p:txBody>
      </p:sp>
      <p:sp>
        <p:nvSpPr>
          <p:cNvPr id="3" name="İçerik Yer Tutucusu 2">
            <a:extLst>
              <a:ext uri="{FF2B5EF4-FFF2-40B4-BE49-F238E27FC236}">
                <a16:creationId xmlns:a16="http://schemas.microsoft.com/office/drawing/2014/main" id="{EF049376-8F91-4C40-9F34-EA2BFE907071}"/>
              </a:ext>
            </a:extLst>
          </p:cNvPr>
          <p:cNvSpPr>
            <a:spLocks noGrp="1"/>
          </p:cNvSpPr>
          <p:nvPr>
            <p:ph idx="1"/>
          </p:nvPr>
        </p:nvSpPr>
        <p:spPr/>
        <p:txBody>
          <a:bodyPr/>
          <a:lstStyle/>
          <a:p>
            <a:r>
              <a:rPr lang="tr-TR" dirty="0"/>
              <a:t>Derin öğrenme örnekler üzerinden öğrenme gerçekleştirmektedir.</a:t>
            </a:r>
          </a:p>
          <a:p>
            <a:r>
              <a:rPr lang="tr-TR" dirty="0"/>
              <a:t>Derin öğrenme kavramı ilk kez 2006 yılında </a:t>
            </a:r>
            <a:r>
              <a:rPr lang="tr-TR" dirty="0" err="1"/>
              <a:t>Hinton</a:t>
            </a:r>
            <a:r>
              <a:rPr lang="tr-TR" dirty="0"/>
              <a:t> tarafından çok katmanlı yapay sinir ağlarının daha verimli eğitilebileceğinin öne sürülmesiyle ortaya çıkmıştır.</a:t>
            </a:r>
          </a:p>
          <a:p>
            <a:endParaRPr lang="tr-TR" dirty="0"/>
          </a:p>
        </p:txBody>
      </p:sp>
    </p:spTree>
    <p:extLst>
      <p:ext uri="{BB962C8B-B14F-4D97-AF65-F5344CB8AC3E}">
        <p14:creationId xmlns:p14="http://schemas.microsoft.com/office/powerpoint/2010/main" val="4151950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001196-0F71-4B00-9631-32419D7FD125}"/>
              </a:ext>
            </a:extLst>
          </p:cNvPr>
          <p:cNvSpPr>
            <a:spLocks noGrp="1"/>
          </p:cNvSpPr>
          <p:nvPr>
            <p:ph type="title"/>
          </p:nvPr>
        </p:nvSpPr>
        <p:spPr/>
        <p:txBody>
          <a:bodyPr/>
          <a:lstStyle/>
          <a:p>
            <a:r>
              <a:rPr lang="tr-TR" dirty="0"/>
              <a:t>Görüntü İşleme</a:t>
            </a:r>
          </a:p>
        </p:txBody>
      </p:sp>
      <p:sp>
        <p:nvSpPr>
          <p:cNvPr id="3" name="İçerik Yer Tutucusu 2">
            <a:extLst>
              <a:ext uri="{FF2B5EF4-FFF2-40B4-BE49-F238E27FC236}">
                <a16:creationId xmlns:a16="http://schemas.microsoft.com/office/drawing/2014/main" id="{7A8090FE-CE13-4AC8-A024-F59FC204F255}"/>
              </a:ext>
            </a:extLst>
          </p:cNvPr>
          <p:cNvSpPr>
            <a:spLocks noGrp="1"/>
          </p:cNvSpPr>
          <p:nvPr>
            <p:ph idx="1"/>
          </p:nvPr>
        </p:nvSpPr>
        <p:spPr/>
        <p:txBody>
          <a:bodyPr/>
          <a:lstStyle/>
          <a:p>
            <a:r>
              <a:rPr lang="tr-TR" dirty="0"/>
              <a:t>Görüntü işleme,  elimizde bulunan görüntüden anlamlı ifadeler çıkarmamıza yarayan işlemler bütünüdür. Bu işlemler, görüntüyü oluşturan pikseller üzerinde gerçekleştirilecek matematiksel işlemler sayesinde gerçekleştirilir. Görüntü elde edildikten sonra, yapılması istenen göreve göre bir algoritma tasarlanır ve görüntü bu aşamalardan geçerek istenen görevi yerine getirir.</a:t>
            </a:r>
          </a:p>
          <a:p>
            <a:endParaRPr lang="tr-TR" dirty="0"/>
          </a:p>
        </p:txBody>
      </p:sp>
    </p:spTree>
    <p:extLst>
      <p:ext uri="{BB962C8B-B14F-4D97-AF65-F5344CB8AC3E}">
        <p14:creationId xmlns:p14="http://schemas.microsoft.com/office/powerpoint/2010/main" val="647984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EF39B5-35BC-4308-9245-8CE96A268A6D}"/>
              </a:ext>
            </a:extLst>
          </p:cNvPr>
          <p:cNvSpPr>
            <a:spLocks noGrp="1"/>
          </p:cNvSpPr>
          <p:nvPr>
            <p:ph type="title"/>
          </p:nvPr>
        </p:nvSpPr>
        <p:spPr/>
        <p:txBody>
          <a:bodyPr/>
          <a:lstStyle/>
          <a:p>
            <a:r>
              <a:rPr lang="tr-TR" dirty="0"/>
              <a:t>İnsanın Görüntü İşlemesi</a:t>
            </a:r>
          </a:p>
        </p:txBody>
      </p:sp>
      <p:sp>
        <p:nvSpPr>
          <p:cNvPr id="3" name="İçerik Yer Tutucusu 2">
            <a:extLst>
              <a:ext uri="{FF2B5EF4-FFF2-40B4-BE49-F238E27FC236}">
                <a16:creationId xmlns:a16="http://schemas.microsoft.com/office/drawing/2014/main" id="{D5CE8E7B-F9F5-49BF-BE2E-94A52C2145D4}"/>
              </a:ext>
            </a:extLst>
          </p:cNvPr>
          <p:cNvSpPr>
            <a:spLocks noGrp="1"/>
          </p:cNvSpPr>
          <p:nvPr>
            <p:ph idx="1"/>
          </p:nvPr>
        </p:nvSpPr>
        <p:spPr/>
        <p:txBody>
          <a:bodyPr/>
          <a:lstStyle/>
          <a:p>
            <a:r>
              <a:rPr lang="tr-TR" dirty="0"/>
              <a:t>Bebeklik anılarımızı neden hatırlamıyoruz?</a:t>
            </a:r>
          </a:p>
          <a:p>
            <a:r>
              <a:rPr lang="tr-TR" dirty="0"/>
              <a:t>Bir elmanın elma olduğunu nasıl öğreniyoruz?</a:t>
            </a:r>
          </a:p>
          <a:p>
            <a:r>
              <a:rPr lang="tr-TR" dirty="0"/>
              <a:t>Karşımızda duran daldaki bir elmayı nasıl tanımlıyoruz?</a:t>
            </a:r>
          </a:p>
          <a:p>
            <a:r>
              <a:rPr lang="tr-TR" dirty="0"/>
              <a:t>Bilgisayar tüm bunları nasıl yapabilir?</a:t>
            </a:r>
          </a:p>
        </p:txBody>
      </p:sp>
    </p:spTree>
    <p:extLst>
      <p:ext uri="{BB962C8B-B14F-4D97-AF65-F5344CB8AC3E}">
        <p14:creationId xmlns:p14="http://schemas.microsoft.com/office/powerpoint/2010/main" val="3147581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56A058F-11B7-4B39-AA42-BD04C02B3942}"/>
              </a:ext>
            </a:extLst>
          </p:cNvPr>
          <p:cNvSpPr>
            <a:spLocks noGrp="1"/>
          </p:cNvSpPr>
          <p:nvPr>
            <p:ph type="title"/>
          </p:nvPr>
        </p:nvSpPr>
        <p:spPr/>
        <p:txBody>
          <a:bodyPr/>
          <a:lstStyle/>
          <a:p>
            <a:r>
              <a:rPr lang="tr-TR" dirty="0"/>
              <a:t>Program</a:t>
            </a:r>
          </a:p>
        </p:txBody>
      </p:sp>
      <p:sp>
        <p:nvSpPr>
          <p:cNvPr id="3" name="İçerik Yer Tutucusu 2">
            <a:extLst>
              <a:ext uri="{FF2B5EF4-FFF2-40B4-BE49-F238E27FC236}">
                <a16:creationId xmlns:a16="http://schemas.microsoft.com/office/drawing/2014/main" id="{A0A09A2E-1400-40EF-B6FF-C0C631CEDC75}"/>
              </a:ext>
            </a:extLst>
          </p:cNvPr>
          <p:cNvSpPr>
            <a:spLocks noGrp="1"/>
          </p:cNvSpPr>
          <p:nvPr>
            <p:ph idx="1"/>
          </p:nvPr>
        </p:nvSpPr>
        <p:spPr/>
        <p:txBody>
          <a:bodyPr>
            <a:normAutofit fontScale="70000" lnSpcReduction="20000"/>
          </a:bodyPr>
          <a:lstStyle/>
          <a:p>
            <a:r>
              <a:rPr lang="tr-TR" dirty="0"/>
              <a:t>Temel </a:t>
            </a:r>
            <a:r>
              <a:rPr lang="tr-TR" dirty="0" err="1"/>
              <a:t>Python</a:t>
            </a:r>
            <a:endParaRPr lang="tr-TR" dirty="0"/>
          </a:p>
          <a:p>
            <a:r>
              <a:rPr lang="tr-TR" dirty="0" err="1"/>
              <a:t>Numpy</a:t>
            </a:r>
            <a:endParaRPr lang="tr-TR" dirty="0"/>
          </a:p>
          <a:p>
            <a:r>
              <a:rPr lang="tr-TR" dirty="0" err="1"/>
              <a:t>OpenCV</a:t>
            </a:r>
            <a:endParaRPr lang="tr-TR" dirty="0"/>
          </a:p>
          <a:p>
            <a:r>
              <a:rPr lang="tr-TR" dirty="0"/>
              <a:t>Derin Öğrenme Temel Kavramları</a:t>
            </a:r>
          </a:p>
          <a:p>
            <a:r>
              <a:rPr lang="tr-TR" dirty="0"/>
              <a:t>Evrişimsel Yapay Sinir Ağları</a:t>
            </a:r>
          </a:p>
          <a:p>
            <a:r>
              <a:rPr lang="tr-TR" dirty="0"/>
              <a:t>Derin Öğrenme Kütüphaneleri</a:t>
            </a:r>
          </a:p>
          <a:p>
            <a:r>
              <a:rPr lang="tr-TR" dirty="0" err="1"/>
              <a:t>Yolo</a:t>
            </a:r>
            <a:r>
              <a:rPr lang="tr-TR" dirty="0"/>
              <a:t>, </a:t>
            </a:r>
            <a:r>
              <a:rPr lang="tr-TR" dirty="0" err="1"/>
              <a:t>Faster</a:t>
            </a:r>
            <a:r>
              <a:rPr lang="tr-TR" dirty="0"/>
              <a:t> R-CNN, SSD, Mask R-CNN, </a:t>
            </a:r>
            <a:r>
              <a:rPr lang="tr-TR" dirty="0" err="1"/>
              <a:t>SqueezeDet</a:t>
            </a:r>
            <a:r>
              <a:rPr lang="tr-TR" dirty="0"/>
              <a:t> ve Hafif Sürümleri</a:t>
            </a:r>
          </a:p>
          <a:p>
            <a:r>
              <a:rPr lang="tr-TR" dirty="0" err="1"/>
              <a:t>Tensorflow</a:t>
            </a:r>
            <a:r>
              <a:rPr lang="tr-TR" dirty="0"/>
              <a:t>, </a:t>
            </a:r>
            <a:r>
              <a:rPr lang="tr-TR" dirty="0" err="1"/>
              <a:t>Caffe</a:t>
            </a:r>
            <a:r>
              <a:rPr lang="tr-TR" dirty="0"/>
              <a:t>, </a:t>
            </a:r>
            <a:r>
              <a:rPr lang="tr-TR" dirty="0" err="1"/>
              <a:t>Keras</a:t>
            </a:r>
            <a:r>
              <a:rPr lang="tr-TR" dirty="0"/>
              <a:t>, </a:t>
            </a:r>
            <a:r>
              <a:rPr lang="tr-TR" dirty="0" err="1"/>
              <a:t>Detectron</a:t>
            </a:r>
            <a:r>
              <a:rPr lang="tr-TR" dirty="0"/>
              <a:t>, </a:t>
            </a:r>
            <a:r>
              <a:rPr lang="tr-TR" dirty="0" err="1"/>
              <a:t>PyTorch</a:t>
            </a:r>
            <a:endParaRPr lang="tr-TR" dirty="0"/>
          </a:p>
          <a:p>
            <a:r>
              <a:rPr lang="tr-TR" dirty="0"/>
              <a:t>Nesne Tanıma Uygulaması</a:t>
            </a:r>
          </a:p>
          <a:p>
            <a:r>
              <a:rPr lang="tr-TR" dirty="0"/>
              <a:t>İstenilen Bir Nesne İçin Ağın Eğitilmesi ve Nesne Tanıma</a:t>
            </a:r>
          </a:p>
          <a:p>
            <a:r>
              <a:rPr lang="tr-TR" dirty="0"/>
              <a:t>Metin Tanıma</a:t>
            </a:r>
          </a:p>
          <a:p>
            <a:r>
              <a:rPr lang="tr-TR" dirty="0"/>
              <a:t>Google </a:t>
            </a:r>
            <a:r>
              <a:rPr lang="tr-TR" dirty="0" err="1"/>
              <a:t>Colab</a:t>
            </a:r>
            <a:endParaRPr lang="tr-TR" dirty="0"/>
          </a:p>
          <a:p>
            <a:r>
              <a:rPr lang="tr-TR" dirty="0" err="1"/>
              <a:t>Kaggle</a:t>
            </a:r>
            <a:endParaRPr lang="tr-TR" dirty="0"/>
          </a:p>
          <a:p>
            <a:r>
              <a:rPr lang="tr-TR" dirty="0"/>
              <a:t>Projeler</a:t>
            </a:r>
          </a:p>
          <a:p>
            <a:endParaRPr lang="tr-TR" dirty="0"/>
          </a:p>
        </p:txBody>
      </p:sp>
    </p:spTree>
    <p:extLst>
      <p:ext uri="{BB962C8B-B14F-4D97-AF65-F5344CB8AC3E}">
        <p14:creationId xmlns:p14="http://schemas.microsoft.com/office/powerpoint/2010/main" val="2173869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3ABC59-EF25-48C5-816C-CCF47489B513}"/>
              </a:ext>
            </a:extLst>
          </p:cNvPr>
          <p:cNvSpPr>
            <a:spLocks noGrp="1"/>
          </p:cNvSpPr>
          <p:nvPr>
            <p:ph type="title"/>
          </p:nvPr>
        </p:nvSpPr>
        <p:spPr/>
        <p:txBody>
          <a:bodyPr/>
          <a:lstStyle/>
          <a:p>
            <a:r>
              <a:rPr lang="tr-TR" dirty="0"/>
              <a:t>Görüntü İşleme</a:t>
            </a:r>
          </a:p>
        </p:txBody>
      </p:sp>
      <p:sp>
        <p:nvSpPr>
          <p:cNvPr id="3" name="İçerik Yer Tutucusu 2">
            <a:extLst>
              <a:ext uri="{FF2B5EF4-FFF2-40B4-BE49-F238E27FC236}">
                <a16:creationId xmlns:a16="http://schemas.microsoft.com/office/drawing/2014/main" id="{FBC06114-6863-4EEF-B46D-7A65572681C7}"/>
              </a:ext>
            </a:extLst>
          </p:cNvPr>
          <p:cNvSpPr>
            <a:spLocks noGrp="1"/>
          </p:cNvSpPr>
          <p:nvPr>
            <p:ph idx="1"/>
          </p:nvPr>
        </p:nvSpPr>
        <p:spPr/>
        <p:txBody>
          <a:bodyPr/>
          <a:lstStyle/>
          <a:p>
            <a:r>
              <a:rPr lang="tr-TR" dirty="0"/>
              <a:t>Görüntü İşleme dersinin ilk haftaki sunumu ile devam edilir…</a:t>
            </a:r>
          </a:p>
        </p:txBody>
      </p:sp>
    </p:spTree>
    <p:extLst>
      <p:ext uri="{BB962C8B-B14F-4D97-AF65-F5344CB8AC3E}">
        <p14:creationId xmlns:p14="http://schemas.microsoft.com/office/powerpoint/2010/main" val="326367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39F123C-A629-477C-B6BE-BFCB84BD99F9}"/>
              </a:ext>
            </a:extLst>
          </p:cNvPr>
          <p:cNvSpPr>
            <a:spLocks noGrp="1"/>
          </p:cNvSpPr>
          <p:nvPr>
            <p:ph type="title"/>
          </p:nvPr>
        </p:nvSpPr>
        <p:spPr/>
        <p:txBody>
          <a:bodyPr/>
          <a:lstStyle/>
          <a:p>
            <a:r>
              <a:rPr lang="tr-TR" dirty="0"/>
              <a:t>İncelenmesi Gereken Kaynaklar</a:t>
            </a:r>
          </a:p>
        </p:txBody>
      </p:sp>
      <p:sp>
        <p:nvSpPr>
          <p:cNvPr id="3" name="İçerik Yer Tutucusu 2">
            <a:extLst>
              <a:ext uri="{FF2B5EF4-FFF2-40B4-BE49-F238E27FC236}">
                <a16:creationId xmlns:a16="http://schemas.microsoft.com/office/drawing/2014/main" id="{04CE6584-529C-4F7B-B7BE-5E076307D0D2}"/>
              </a:ext>
            </a:extLst>
          </p:cNvPr>
          <p:cNvSpPr>
            <a:spLocks noGrp="1"/>
          </p:cNvSpPr>
          <p:nvPr>
            <p:ph idx="1"/>
          </p:nvPr>
        </p:nvSpPr>
        <p:spPr/>
        <p:txBody>
          <a:bodyPr/>
          <a:lstStyle/>
          <a:p>
            <a:r>
              <a:rPr lang="tr-TR" dirty="0">
                <a:hlinkClick r:id="rId2"/>
              </a:rPr>
              <a:t>https://paperswithcode.com/task/object-detection/latest</a:t>
            </a:r>
            <a:endParaRPr lang="tr-TR" dirty="0"/>
          </a:p>
          <a:p>
            <a:r>
              <a:rPr lang="tr-TR" dirty="0">
                <a:hlinkClick r:id="rId3"/>
              </a:rPr>
              <a:t>https://www.kaggle.com/</a:t>
            </a:r>
            <a:endParaRPr lang="tr-TR" dirty="0"/>
          </a:p>
          <a:p>
            <a:endParaRPr lang="tr-TR" dirty="0"/>
          </a:p>
        </p:txBody>
      </p:sp>
    </p:spTree>
    <p:extLst>
      <p:ext uri="{BB962C8B-B14F-4D97-AF65-F5344CB8AC3E}">
        <p14:creationId xmlns:p14="http://schemas.microsoft.com/office/powerpoint/2010/main" val="3888151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CEA6A-7444-4E24-96F6-7BF3FB8918C6}"/>
              </a:ext>
            </a:extLst>
          </p:cNvPr>
          <p:cNvSpPr>
            <a:spLocks noGrp="1"/>
          </p:cNvSpPr>
          <p:nvPr>
            <p:ph type="title"/>
          </p:nvPr>
        </p:nvSpPr>
        <p:spPr/>
        <p:txBody>
          <a:bodyPr/>
          <a:lstStyle/>
          <a:p>
            <a:r>
              <a:rPr lang="tr-TR" dirty="0"/>
              <a:t>Kaynaklar</a:t>
            </a:r>
          </a:p>
        </p:txBody>
      </p:sp>
      <p:sp>
        <p:nvSpPr>
          <p:cNvPr id="3" name="İçerik Yer Tutucusu 2">
            <a:extLst>
              <a:ext uri="{FF2B5EF4-FFF2-40B4-BE49-F238E27FC236}">
                <a16:creationId xmlns:a16="http://schemas.microsoft.com/office/drawing/2014/main" id="{5F68A34E-7AB0-45AF-9A4E-19AC6A8D2809}"/>
              </a:ext>
            </a:extLst>
          </p:cNvPr>
          <p:cNvSpPr>
            <a:spLocks noGrp="1"/>
          </p:cNvSpPr>
          <p:nvPr>
            <p:ph idx="1"/>
          </p:nvPr>
        </p:nvSpPr>
        <p:spPr/>
        <p:txBody>
          <a:bodyPr/>
          <a:lstStyle/>
          <a:p>
            <a:r>
              <a:rPr lang="tr-TR" dirty="0">
                <a:hlinkClick r:id="rId2"/>
              </a:rPr>
              <a:t>http://introtodeeplearning.com/</a:t>
            </a:r>
            <a:endParaRPr lang="tr-TR" dirty="0"/>
          </a:p>
          <a:p>
            <a:r>
              <a:rPr lang="tr-TR" dirty="0">
                <a:hlinkClick r:id="rId3"/>
              </a:rPr>
              <a:t>https://www.deeplearningbook.org/</a:t>
            </a:r>
            <a:endParaRPr lang="tr-TR" dirty="0"/>
          </a:p>
          <a:p>
            <a:r>
              <a:rPr lang="tr-TR" dirty="0">
                <a:hlinkClick r:id="rId4"/>
              </a:rPr>
              <a:t>https://github.com/ayyucekizrak/Kapsamli_Derin_Ogrenme_Rehberi</a:t>
            </a:r>
            <a:endParaRPr lang="tr-TR" dirty="0"/>
          </a:p>
          <a:p>
            <a:r>
              <a:rPr lang="tr-TR" dirty="0">
                <a:hlinkClick r:id="rId5"/>
              </a:rPr>
              <a:t>https://www.kaggle.com/</a:t>
            </a:r>
            <a:endParaRPr lang="tr-TR" dirty="0"/>
          </a:p>
          <a:p>
            <a:r>
              <a:rPr lang="tr-TR" dirty="0">
                <a:hlinkClick r:id="rId6"/>
              </a:rPr>
              <a:t>https://www.yapayzekatr.com/</a:t>
            </a:r>
            <a:endParaRPr lang="tr-TR" dirty="0"/>
          </a:p>
          <a:p>
            <a:endParaRPr lang="tr-TR" dirty="0"/>
          </a:p>
          <a:p>
            <a:endParaRPr lang="tr-TR" dirty="0"/>
          </a:p>
        </p:txBody>
      </p:sp>
    </p:spTree>
    <p:extLst>
      <p:ext uri="{BB962C8B-B14F-4D97-AF65-F5344CB8AC3E}">
        <p14:creationId xmlns:p14="http://schemas.microsoft.com/office/powerpoint/2010/main" val="862251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00F63D-23A1-4B6A-A444-82CC2F945203}"/>
              </a:ext>
            </a:extLst>
          </p:cNvPr>
          <p:cNvSpPr>
            <a:spLocks noGrp="1"/>
          </p:cNvSpPr>
          <p:nvPr>
            <p:ph type="title"/>
          </p:nvPr>
        </p:nvSpPr>
        <p:spPr/>
        <p:txBody>
          <a:bodyPr/>
          <a:lstStyle/>
          <a:p>
            <a:r>
              <a:rPr lang="tr-TR" dirty="0"/>
              <a:t>Dönem Sonu Çıktı</a:t>
            </a:r>
          </a:p>
        </p:txBody>
      </p:sp>
      <p:sp>
        <p:nvSpPr>
          <p:cNvPr id="3" name="İçerik Yer Tutucusu 2">
            <a:extLst>
              <a:ext uri="{FF2B5EF4-FFF2-40B4-BE49-F238E27FC236}">
                <a16:creationId xmlns:a16="http://schemas.microsoft.com/office/drawing/2014/main" id="{34E6096A-A42C-4B64-B44A-00745D5781A2}"/>
              </a:ext>
            </a:extLst>
          </p:cNvPr>
          <p:cNvSpPr>
            <a:spLocks noGrp="1"/>
          </p:cNvSpPr>
          <p:nvPr>
            <p:ph idx="1"/>
          </p:nvPr>
        </p:nvSpPr>
        <p:spPr/>
        <p:txBody>
          <a:bodyPr/>
          <a:lstStyle/>
          <a:p>
            <a:r>
              <a:rPr lang="tr-TR" dirty="0">
                <a:hlinkClick r:id="rId2"/>
              </a:rPr>
              <a:t>https://www.kaggle.com/datasets?tags=13207-Computer+Vision</a:t>
            </a:r>
            <a:endParaRPr lang="tr-TR" dirty="0"/>
          </a:p>
          <a:p>
            <a:r>
              <a:rPr lang="tr-TR" dirty="0"/>
              <a:t>Hazır bir model ile bir ürün ortaya koyma (Ara Sınav)</a:t>
            </a:r>
          </a:p>
          <a:p>
            <a:r>
              <a:rPr lang="tr-TR" dirty="0"/>
              <a:t>Buradan alınacak bir veri seti ile bir proje üretilmeli ve bir bildiri hazırlanmalı (Final).</a:t>
            </a:r>
          </a:p>
          <a:p>
            <a:endParaRPr lang="tr-TR" dirty="0"/>
          </a:p>
        </p:txBody>
      </p:sp>
    </p:spTree>
    <p:extLst>
      <p:ext uri="{BB962C8B-B14F-4D97-AF65-F5344CB8AC3E}">
        <p14:creationId xmlns:p14="http://schemas.microsoft.com/office/powerpoint/2010/main" val="42482421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a:themeElements>
    <a:clrScheme name="İy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y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TM02836342[[fn=İyon]]</Template>
  <TotalTime>564</TotalTime>
  <Words>740</Words>
  <Application>Microsoft Office PowerPoint</Application>
  <PresentationFormat>Geniş ekran</PresentationFormat>
  <Paragraphs>80</Paragraphs>
  <Slides>19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19</vt:i4>
      </vt:variant>
    </vt:vector>
  </HeadingPairs>
  <TitlesOfParts>
    <vt:vector size="23" baseType="lpstr">
      <vt:lpstr>Arial</vt:lpstr>
      <vt:lpstr>Century Gothic</vt:lpstr>
      <vt:lpstr>Wingdings 3</vt:lpstr>
      <vt:lpstr>İyon</vt:lpstr>
      <vt:lpstr>Derin Öğrenme ile Görüntü İşleme</vt:lpstr>
      <vt:lpstr>Kavramlar</vt:lpstr>
      <vt:lpstr>Zekâ</vt:lpstr>
      <vt:lpstr>Yapay Zekâ</vt:lpstr>
      <vt:lpstr>Makine Öğrenmesi</vt:lpstr>
      <vt:lpstr>Derin Öğrenme</vt:lpstr>
      <vt:lpstr>Derin Öğrenme</vt:lpstr>
      <vt:lpstr>Derin Öğrenmenin Farkı</vt:lpstr>
      <vt:lpstr>Derin Öğrenme</vt:lpstr>
      <vt:lpstr>Derin Öğrenme</vt:lpstr>
      <vt:lpstr>Derin Öğrenme</vt:lpstr>
      <vt:lpstr>Derin Öğrenme</vt:lpstr>
      <vt:lpstr>Görüntü İşleme</vt:lpstr>
      <vt:lpstr>İnsanın Görüntü İşlemesi</vt:lpstr>
      <vt:lpstr>Program</vt:lpstr>
      <vt:lpstr>Görüntü İşleme</vt:lpstr>
      <vt:lpstr>İncelenmesi Gereken Kaynaklar</vt:lpstr>
      <vt:lpstr>Kaynaklar</vt:lpstr>
      <vt:lpstr>Dönem Sonu Çıktı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Derin Öğrenme ile Görüntü İşleme</dc:title>
  <dc:creator>Hüseyin GÜNEŞ</dc:creator>
  <cp:lastModifiedBy>Hüseyin GÜNEŞ</cp:lastModifiedBy>
  <cp:revision>20</cp:revision>
  <dcterms:created xsi:type="dcterms:W3CDTF">2021-03-16T07:55:08Z</dcterms:created>
  <dcterms:modified xsi:type="dcterms:W3CDTF">2021-03-24T11:57:28Z</dcterms:modified>
</cp:coreProperties>
</file>