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ImageNet Top-5 Error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Top-5 Hata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AlexNet
(2012)</c:v>
                  </c:pt>
                  <c:pt idx="1">
                    <c:v>VGG
(2014)</c:v>
                  </c:pt>
                  <c:pt idx="2">
                    <c:v>GoogLeNet
(2014)</c:v>
                  </c:pt>
                  <c:pt idx="3">
                    <c:v>ResNet
(2015)</c:v>
                  </c:pt>
                  <c:pt idx="4">
                    <c:v>EfficientNet
(2019)</c:v>
                  </c:pt>
                  <c:pt idx="5">
                    <c:v>İnsan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16.4</c:v>
                </c:pt>
                <c:pt idx="1">
                  <c:v>7.3</c:v>
                </c:pt>
                <c:pt idx="2">
                  <c:v>6.7</c:v>
                </c:pt>
                <c:pt idx="3">
                  <c:v>3.6</c:v>
                </c:pt>
                <c:pt idx="4">
                  <c:v>2.9</c:v>
                </c:pt>
                <c:pt idx="5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Sinir Ağları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Perceptron'dan Derin Öğrenmeye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Derin Öğrenme ile Görüntü İşleme - Hafta 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Yüksek Lisans Dersi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Bugünkü Ders Akışı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0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88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Biyolojik İlham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Beyin ve yapay nöron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0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887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İlk yapay nöron modeli + Python kodu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697480"/>
            <a:ext cx="0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887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Perceptronun Sınırları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XOR problemi ve doğrusal ayrılamazlık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337560"/>
            <a:ext cx="0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887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Çok Katmanlı Ağlar (MLP)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Gizli katmanlar ve backpropagation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977640"/>
            <a:ext cx="0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887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Görüntü İşleme için CNN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Konvolüsyon ve modern mimariler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İleri Seviye Ağlar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8872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RNN, GAN, Transformer, ViT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100584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Bu Ders Önemli?</a:t>
            </a:r>
            <a:endParaRPr lang="en-US" sz="16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37360"/>
            <a:ext cx="228600" cy="2286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76072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İlk 7 haftada öğrendiğiniz görüntü işleme tekniklerinin çoğu el ile tasarlanmış filtreler kullanıyor</a:t>
            </a:r>
            <a:endParaRPr lang="en-US" sz="11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23160"/>
            <a:ext cx="228600" cy="228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76072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sinir ağları bu filtreleri otomatik olarak öğrenebilir</a:t>
            </a:r>
            <a:endParaRPr lang="en-US" sz="11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108960"/>
            <a:ext cx="228600" cy="2286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76072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görüntü işleme = Derin öğrenme</a:t>
            </a:r>
            <a:endParaRPr lang="en-US" sz="11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794760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76072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hafta, temellerden başlayarak neden derin öğrenmeye ihtiyaç duyulduğunu adım adım göreceğiz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Derin Öğrenmenin Tarihsel Yolculuğu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"Yapay zeka araştırmasının her dönemi, bir önceki dönemin sınırlamalarından doğmuştur."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Biyolojik Nörondan Yapay Nörona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Biyolojik Nöron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Dendritler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10312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Sinyalleri alır (girdiler)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Hücre Gövdesi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Sinyalleri toplar ve işler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Akson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103120" y="2560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Sonucu iletir (çıktı)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Sinaps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312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Nöronlar arası bağlantı (ağırlıklar)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Eşik Değeri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0312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Yeterli sinyal → ateşleme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86868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058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Nöron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12064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Girdiler (x)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9224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Özellik değerleri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12064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Ağırlıklar (w)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92240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Bağlantı kuvvetleri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12064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Toplam (Σ)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92240" y="2560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Ağırlıklı toplam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12064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 (f)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9224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Doğrusal olmayan dönüşüm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12064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 (ŷ)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9224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Tahmin değeri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İnsan beyni ~86 milyar nöron ve ~100 trilyon sinaptik bağlantı içerir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Perceptron: İlk Yapay Nöron (1958)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Rosenblatt tarafından geliştirilen perceptron, tek katmanlı bir yapay nöron modelidir.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Perceptron, doğrusal olarak ayrılabilen problemleri çözebilir.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 Fonksiyonları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Doğrusal olmayan dönüşüm sağlayarak ağın karmaşık desenleri öğrenmesini mümkün kılar.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42062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4160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Aktivasyon fonksiyonu olmadan, ne kadar katman eklersek ekleyelim, sonuç yine doğrusal bir model olur!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ile Perceptron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5303520" cy="40233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868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Perceptron: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n_features, lr=0.01):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self.weights = np.zeros(n_features)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self.bias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self.lr = lr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predict(self, x):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 = np.dot(x, self.weights) + self.bias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if z &gt;= 0 else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train(self, X, y, epochs=100):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_ in range(epochs):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xi, yi in zip(X, 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pred = self.predict(xi)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error = yi - pred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self.weights += self.lr * error * xi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self.bias += self.lr * error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kapısı örneği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np.array([[0,0],[0,1],[1,0],[1,1]])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np.array([0, 0, 0, 1])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Perceptron(n_features=2)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p.train(X, y, epochs=10)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xi in X: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print(f"{xi} -&gt; {p.predict(xi)}")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852160" y="777240"/>
            <a:ext cx="301752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 Açıklaması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6480" y="14630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Başlatma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1645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Ağırlıklar sıfır, bias sıfır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predict()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4652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Ağırlıklı toplam + eşik fonksiyonu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27432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Hata bazlı ağırlık güncelleme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338328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Güncelleme kuralı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4652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+= lr × error × x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40233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Kapısı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Sadece (1,1) → 1, diğerleri 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 Neler Yapabilir?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Kapısı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2103120" cy="1828800"/>
        </p:xfrm>
        <a:graphic>
          <a:graphicData uri="http://schemas.openxmlformats.org/drawingml/2006/table">
            <a:tbl>
              <a:tblPr/>
              <a:tblGrid>
                <a:gridCol w="701040"/>
                <a:gridCol w="701040"/>
                <a:gridCol w="701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x₁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x₂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ŷ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w=[1,1], b=-1.5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46120" y="91440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515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404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Kapısı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1554480"/>
          <a:ext cx="2103120" cy="1828800"/>
        </p:xfrm>
        <a:graphic>
          <a:graphicData uri="http://schemas.openxmlformats.org/drawingml/2006/table">
            <a:tbl>
              <a:tblPr/>
              <a:tblGrid>
                <a:gridCol w="701040"/>
                <a:gridCol w="701040"/>
                <a:gridCol w="701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x₁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x₂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ŷ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34290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w=[1,1], b=-0.5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6126480" y="91440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208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Kapısı</a:t>
            </a:r>
            <a:endParaRPr lang="en-US" sz="16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2103120" cy="118872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x₁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ŷ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8" name="Text 10"/>
          <p:cNvSpPr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w=[-1], b=0.5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Tüm bu problemler doğrusal bir karar sınırı ile çözülebilir.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Perceptronun Sınırı: XOR Problemi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Minsky &amp; Papert (1969): Perceptron doğrusal olarak ayrılamayan problemleri çözemez!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450A0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062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4160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keşif, yapay sinir ağı araştırmalarında uzun bir "kış" dönemini başlattı. Çözüm: Birden fazla nöron ve gizli katmanlar!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Çözüm: Çok Katmanlı Perceptron (MLP)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Gizli katmanlar ekleyerek doğrusal olmayan karar sınırları oluşturabiliriz!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4251960"/>
            <a:ext cx="73152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3434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4297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Approximation Theorem: Yeterli sayıda nöron içeren tek gizli katmanlı bir MLP, herhangi bir sürekli fonksiyonu yaklaşık olarak temsil edebilir!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Ağırlıkları Nasıl Öğreniyoruz?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8595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840480"/>
            <a:ext cx="25603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İleri Yayılım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Girdiyi ağdan geçirerek tahmin üret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3840480"/>
            <a:ext cx="25603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Kayıp Hesapla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Tahmin ile gerçek arasındaki farkı ölç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3840480"/>
            <a:ext cx="25603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Geri Yayılım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Zincir kuralı ile gradyanları hesapla ve ağırlıkları güncelle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Gradyan İnişi (Gradient Descent)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GD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Tüm veriyi kullanır. Yavaş ama kararlı.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Stochastic GD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örnek kullanır. Hızlı ama gürültülü.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3931920"/>
            <a:ext cx="25603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Mini-Batch GD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Küçük gruplar. En yaygın yöntem!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Görüntü İşleme İçin Neden Yetersiz?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Parametre Patlaması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224×224×3 = 150.528 girdi pikseli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512 nöronlu gizli katman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77 milyon parametre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sadece ilk katman için!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914400"/>
            <a:ext cx="2697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Uzamsal Bilgi Kaybı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29000" y="16459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Görüntü düzleştirildiğinde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piksellerin komşuluk ilişkisi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tamamen kaybolur.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(1,1) ile (1,2) pikselleri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arasındaki ilişki bilinmez.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914400"/>
            <a:ext cx="2697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Öteleme Duyarlılığı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16459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kediyi sol üstte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tanısa bile sağ altta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tanıyamaz.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konum için yeniden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öğrenmek gerekir.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554480" y="4343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Çözüm → Görüntünün uzamsal yapısını koruyan özel bir mimari: Convolutional Neural Network (CNN)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Konvolüsyon: CNN'in Temel Taşı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Not: OpenCV'de kullandığımız filtreler (Sobel, Gaussian, Laplacian) aslında birer konvolüsyon işlemidir!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vs MLP: Neden CNN?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Özellik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MLP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CNN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Bağlantı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Tam bağlı (fully connected)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Lokal bağlı (filtre)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Parametre sayısı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Çok fazla (milyonlarca)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Az (paylaşımlı ağırlıklar)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Uzamsal bilgi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Kaybolur (düzleştirme)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Korunur (2D yapı)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Öteleme değişmezliği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Var (havuzlama ile)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Hiyerarşik öğrenme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Sınırlı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Doğal (düşük → yüksek)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554480" y="4251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Örnek: 224×224 görüntüde 3×3 filtre → Sadece 9 ağırlık (MLP'de 150.528!)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Aynı filtre tüm görüntüye uygulanır → Ağırlık paylaşımı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Mimarisi: Uçtan Uca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206240"/>
            <a:ext cx="27432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Konvolüsyon Katmanı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Filtreler ile özellik çıkarır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Havuzlama (Pooling)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Boyut küçültür, hesap azaltır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4206240"/>
            <a:ext cx="27432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Bağlı (FC)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Özellikleri sınıflandırır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CNN: Hiyerarşik Özellik Öğrenme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katman, bir önceki katmanın öğrendiği özellikleri birleştirerek daha karmaşık özellikler oluşturur.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1-2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Düşük seviye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Kenarlar, Köşeler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Renk geçişleri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46888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188720"/>
            <a:ext cx="2011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88720"/>
            <a:ext cx="201168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3-4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 seviye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Dokular, Desenler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Basit şekiller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46888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2011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5-7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Yüksek seviye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Nesne parçaları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Göz, kulak, tekerlek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246888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188720"/>
            <a:ext cx="2011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18872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Katmanlar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nesneler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Yüz, araba, kedi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durum, OpenCV'deki elle tasarlanmış filtrelerin (Sobel, Canny) yerini otomatik öğrenilen filtrelerin aldığını gösterir.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Ünlü CNN Mimarileri: ImageNet Evrimi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144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932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 (2012)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161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katman, GPU eğitimi, ReLU, Dropout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1572768"/>
            <a:ext cx="310896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572768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 (2014)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1819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katman, küçük 3×3 filtreler, sadelik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2231136"/>
            <a:ext cx="310896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231136"/>
            <a:ext cx="54864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22494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GoogLeNet (2014)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2478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katman, Inception modülü, verimlilik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2889504"/>
            <a:ext cx="310896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2889504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(2015)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3136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 katman, skip connections, çok derin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60720" y="3547872"/>
            <a:ext cx="310896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547872"/>
            <a:ext cx="54864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 (2019)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893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ile otomatik tasarım, ölçekleme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2015'ten itibaren CNN'ler insan performansını geçmiştir!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Ötesi: İleri Seviye Ağ Mimarileri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Öğrenme: Dev Modellerin Gücü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Sıfırdan eğitmek yerine, önceden eğitilmiş modelleri kendi problemimize uyarlayabiliriz.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3258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Önceden Eğitilmiş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ImageNet üzerinde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milyonlarca görüntü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ile eğitilmiş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(ResNet, VGG, vb.)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256032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Özellik Çıkarıcıyı Dondur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Konvolüsyon katmanlarının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ağırlıklarını koru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(öğrenilmiş filtreler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zaten güçlü)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32588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Katmanı Değiştir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Kendi probleminize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uygun yeni sınıflandırıcı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ekleyin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(örn: 2 sınıf → kedi/köpek)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2560320"/>
            <a:ext cx="1828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0" y="13258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İnce Ayar (Fine-tune)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Kendi veriniz ile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kısa sürede eğitin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 veri bile yeterli!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(100-1000 görüntü)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öğrenme, derin öğrenmeyi pratik ve erişilebilir kılan en önemli tekniklerden biridir.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İpuçları &amp; Araçlar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26974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Araştırma odaklı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Dinamik grafik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popüler (akademi)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14400"/>
            <a:ext cx="2697480" cy="457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/ Keras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29000" y="1417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 odaklı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Kolay kullanım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desteği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91440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914400"/>
            <a:ext cx="2697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 + DNN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1417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Eğitilmiş model çalıştırma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zamanlı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performansı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058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artırma (augmentation) kullanın: döndürme, çevirme, renk değiştirme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832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normalization ile eğitimi stabilize edin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62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 ile aşırı öğrenmeyi (overfitting) önleyin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891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Öğrenme oranı scheduling ile performansı artırın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Özet &amp; Sonraki Adımlar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Öğrendiklerimiz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Perceptron: Tek nöron, doğrusal sınıflandırma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XOR problemi: Perceptronun sınırları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3172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MLP: Gizli katmanlar + Backpropagation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9748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MLP'nin görüntü işlemedeki yetersizliği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6324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44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CNN: Konvolüsyon, havuzlama, özellik hiyerarşisi</a:t>
            </a:r>
            <a:endParaRPr lang="en-US" sz="11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29000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144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mimariler: ResNet, GAN, Transformer</a:t>
            </a:r>
            <a:endParaRPr lang="en-US" sz="11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94760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144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öğrenme: Pratik derin öğrenme</a:t>
            </a:r>
            <a:endParaRPr lang="en-US" sz="1100" dirty="0"/>
          </a:p>
        </p:txBody>
      </p:sp>
      <p:sp>
        <p:nvSpPr>
          <p:cNvPr id="21" name="Shape 11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1051560"/>
            <a:ext cx="320040" cy="32004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949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Hafta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502920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ile CNN implementasyonu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Kendi CNN modelinizi eğiteceksiniz!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görüntü verisi ile çalışma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4754880" y="2743200"/>
            <a:ext cx="4023360" cy="1645920"/>
          </a:xfrm>
          <a:prstGeom prst="rect">
            <a:avLst/>
          </a:prstGeom>
          <a:solidFill>
            <a:srgbClr val="42200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880360"/>
            <a:ext cx="320040" cy="32004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9496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Alıştırma</a:t>
            </a:r>
            <a:endParaRPr lang="en-US" sz="1600" dirty="0"/>
          </a:p>
        </p:txBody>
      </p:sp>
      <p:sp>
        <p:nvSpPr>
          <p:cNvPr id="28" name="Text 16"/>
          <p:cNvSpPr/>
          <p:nvPr/>
        </p:nvSpPr>
        <p:spPr>
          <a:xfrm>
            <a:off x="502920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Perceptron kodunu XOR için deneyin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2 gizli katmanlı MLP ile XOR'u çözün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PyTorch kurulumunu yapın</a:t>
            </a:r>
            <a:endParaRPr lang="en-US" sz="1100" dirty="0"/>
          </a:p>
        </p:txBody>
      </p:sp>
      <p:sp>
        <p:nvSpPr>
          <p:cNvPr id="29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"Derin öğrenme, bilgisayar görüsünü tamamen dönüştürdü — artık makineler görebiliyor."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Teşekkürler!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 &amp; Tartışma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Derin Öğrenme ile Görüntü İşleme - Hafta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Sinir Ağları - Perceptron'dan Derin Öğrenmeye</dc:title>
  <dc:subject>PptxGenJS Presentation</dc:subject>
  <dc:creator>Derin Öğrenme ile Görüntü İşleme</dc:creator>
  <cp:lastModifiedBy>Derin Öğrenme ile Görüntü İşleme</cp:lastModifiedBy>
  <cp:revision>1</cp:revision>
  <dcterms:created xsi:type="dcterms:W3CDTF">2026-04-17T05:34:42Z</dcterms:created>
  <dcterms:modified xsi:type="dcterms:W3CDTF">2026-04-17T05:34:42Z</dcterms:modified>
</cp:coreProperties>
</file>