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1" r:id="rId6"/>
    <p:sldId id="280" r:id="rId7"/>
    <p:sldId id="262" r:id="rId8"/>
    <p:sldId id="263" r:id="rId9"/>
    <p:sldId id="264" r:id="rId10"/>
    <p:sldId id="260" r:id="rId11"/>
    <p:sldId id="265" r:id="rId12"/>
    <p:sldId id="266" r:id="rId13"/>
    <p:sldId id="279" r:id="rId14"/>
    <p:sldId id="269" r:id="rId15"/>
    <p:sldId id="270" r:id="rId16"/>
    <p:sldId id="276" r:id="rId17"/>
    <p:sldId id="275" r:id="rId18"/>
    <p:sldId id="274" r:id="rId19"/>
    <p:sldId id="283" r:id="rId20"/>
    <p:sldId id="282" r:id="rId21"/>
    <p:sldId id="284" r:id="rId22"/>
    <p:sldId id="285" r:id="rId23"/>
    <p:sldId id="286" r:id="rId24"/>
    <p:sldId id="287" r:id="rId25"/>
    <p:sldId id="288" r:id="rId26"/>
    <p:sldId id="290" r:id="rId27"/>
    <p:sldId id="291" r:id="rId28"/>
    <p:sldId id="292" r:id="rId29"/>
    <p:sldId id="294" r:id="rId30"/>
    <p:sldId id="289" r:id="rId31"/>
    <p:sldId id="293" r:id="rId32"/>
    <p:sldId id="271" r:id="rId33"/>
    <p:sldId id="277" r:id="rId34"/>
    <p:sldId id="267" r:id="rId35"/>
    <p:sldId id="268" r:id="rId36"/>
    <p:sldId id="295" r:id="rId37"/>
    <p:sldId id="296" r:id="rId38"/>
    <p:sldId id="278" r:id="rId39"/>
    <p:sldId id="272"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üseyin GÜNEŞ" initials="HG" lastIdx="1" clrIdx="0">
    <p:extLst>
      <p:ext uri="{19B8F6BF-5375-455C-9EA6-DF929625EA0E}">
        <p15:presenceInfo xmlns:p15="http://schemas.microsoft.com/office/powerpoint/2012/main" userId="Hüseyin GÜNEŞ"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6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6-08T20:51:35.379" idx="1">
    <p:pos x="10" y="10"/>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2">
        <a:schemeClr val="bg2"/>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tr-TR"/>
              <a:t>Asıl başlık stilini düzenlemek için tıklayın</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8BA15B56-3F6E-4599-B650-C4B09FC2E157}" type="datetimeFigureOut">
              <a:rPr lang="tr-TR" smtClean="0"/>
              <a:t>9.06.2021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232203848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BA15B56-3F6E-4599-B650-C4B09FC2E157}" type="datetimeFigureOut">
              <a:rPr lang="tr-TR" smtClean="0"/>
              <a:t>9.06.2021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2252901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2">
        <a:schemeClr val="bg2"/>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lvl1pPr>
              <a:defRPr>
                <a:solidFill>
                  <a:schemeClr val="tx2"/>
                </a:solidFill>
              </a:defRPr>
            </a:lvl1pPr>
          </a:lstStyle>
          <a:p>
            <a:fld id="{8BA15B56-3F6E-4599-B650-C4B09FC2E157}" type="datetimeFigureOut">
              <a:rPr lang="tr-TR" smtClean="0"/>
              <a:t>9.06.2021</a:t>
            </a:fld>
            <a:endParaRPr lang="tr-TR"/>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tr-T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94ABEE73-9684-4F77-8340-F5BA2D8B27C0}" type="slidenum">
              <a:rPr lang="tr-TR" smtClean="0"/>
              <a:t>‹#›</a:t>
            </a:fld>
            <a:endParaRPr lang="tr-TR"/>
          </a:p>
        </p:txBody>
      </p:sp>
    </p:spTree>
    <p:extLst>
      <p:ext uri="{BB962C8B-B14F-4D97-AF65-F5344CB8AC3E}">
        <p14:creationId xmlns:p14="http://schemas.microsoft.com/office/powerpoint/2010/main" val="290117837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8BA15B56-3F6E-4599-B650-C4B09FC2E157}" type="datetimeFigureOut">
              <a:rPr lang="tr-TR" smtClean="0"/>
              <a:t>9.06.2021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19991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8BA15B56-3F6E-4599-B650-C4B09FC2E157}" type="datetimeFigureOut">
              <a:rPr lang="tr-TR" smtClean="0"/>
              <a:t>9.06.2021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410430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8BA15B56-3F6E-4599-B650-C4B09FC2E157}" type="datetimeFigureOut">
              <a:rPr lang="tr-TR" smtClean="0"/>
              <a:t>9.06.2021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341448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A15B56-3F6E-4599-B650-C4B09FC2E157}" type="datetimeFigureOut">
              <a:rPr lang="tr-TR" smtClean="0"/>
              <a:t>9.06.2021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3337834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BA15B56-3F6E-4599-B650-C4B09FC2E157}" type="datetimeFigureOut">
              <a:rPr lang="tr-TR" smtClean="0"/>
              <a:t>9.06.2021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1910336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BA15B56-3F6E-4599-B650-C4B09FC2E157}" type="datetimeFigureOut">
              <a:rPr lang="tr-TR" smtClean="0"/>
              <a:t>9.06.2021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2085028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BA15B56-3F6E-4599-B650-C4B09FC2E157}" type="datetimeFigureOut">
              <a:rPr lang="tr-TR" smtClean="0"/>
              <a:t>9.06.2021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3636057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838200" y="6422854"/>
            <a:ext cx="2743196" cy="365125"/>
          </a:xfrm>
        </p:spPr>
        <p:txBody>
          <a:bodyPr/>
          <a:lstStyle/>
          <a:p>
            <a:fld id="{8BA15B56-3F6E-4599-B650-C4B09FC2E157}" type="datetimeFigureOut">
              <a:rPr lang="tr-TR" smtClean="0"/>
              <a:t>9.06.2021</a:t>
            </a:fld>
            <a:endParaRPr lang="tr-TR"/>
          </a:p>
        </p:txBody>
      </p:sp>
      <p:sp>
        <p:nvSpPr>
          <p:cNvPr id="5" name="Footer Placeholder 4"/>
          <p:cNvSpPr>
            <a:spLocks noGrp="1"/>
          </p:cNvSpPr>
          <p:nvPr>
            <p:ph type="ftr" sz="quarter" idx="11"/>
          </p:nvPr>
        </p:nvSpPr>
        <p:spPr>
          <a:xfrm>
            <a:off x="3776135" y="6422854"/>
            <a:ext cx="4279669" cy="365125"/>
          </a:xfrm>
        </p:spPr>
        <p:txBody>
          <a:bodyPr/>
          <a:lstStyle/>
          <a:p>
            <a:endParaRPr lang="tr-TR"/>
          </a:p>
        </p:txBody>
      </p:sp>
      <p:sp>
        <p:nvSpPr>
          <p:cNvPr id="6" name="Slide Number Placeholder 5"/>
          <p:cNvSpPr>
            <a:spLocks noGrp="1"/>
          </p:cNvSpPr>
          <p:nvPr>
            <p:ph type="sldNum" sz="quarter" idx="12"/>
          </p:nvPr>
        </p:nvSpPr>
        <p:spPr>
          <a:xfrm>
            <a:off x="8073048" y="6422854"/>
            <a:ext cx="879759" cy="365125"/>
          </a:xfrm>
        </p:spPr>
        <p:txBody>
          <a:bodyPr/>
          <a:lstStyle/>
          <a:p>
            <a:fld id="{94ABEE73-9684-4F77-8340-F5BA2D8B27C0}" type="slidenum">
              <a:rPr lang="tr-TR" smtClean="0"/>
              <a:t>‹#›</a:t>
            </a:fld>
            <a:endParaRPr lang="tr-TR"/>
          </a:p>
        </p:txBody>
      </p:sp>
    </p:spTree>
    <p:extLst>
      <p:ext uri="{BB962C8B-B14F-4D97-AF65-F5344CB8AC3E}">
        <p14:creationId xmlns:p14="http://schemas.microsoft.com/office/powerpoint/2010/main" val="2479872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8BA15B56-3F6E-4599-B650-C4B09FC2E157}" type="datetimeFigureOut">
              <a:rPr lang="tr-TR" smtClean="0"/>
              <a:t>9.06.2021</a:t>
            </a:fld>
            <a:endParaRPr lang="tr-TR"/>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tr-TR"/>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94ABEE73-9684-4F77-8340-F5BA2D8B27C0}" type="slidenum">
              <a:rPr lang="tr-TR" smtClean="0"/>
              <a:t>‹#›</a:t>
            </a:fld>
            <a:endParaRPr lang="tr-TR"/>
          </a:p>
        </p:txBody>
      </p:sp>
    </p:spTree>
    <p:extLst>
      <p:ext uri="{BB962C8B-B14F-4D97-AF65-F5344CB8AC3E}">
        <p14:creationId xmlns:p14="http://schemas.microsoft.com/office/powerpoint/2010/main" val="257049192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layground.tensorflow.org/" TargetMode="External"/><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hyperlink" Target="https://translate.google.com/translate?hl=tr&amp;sl=en&amp;u=https://playground.tensorflow.org/&amp;prev=search&amp;pto=aue"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yitopeligo/perceptron-training/blob/master/perceptron_implementation.ipynb" TargetMode="External"/><Relationship Id="rId2" Type="http://schemas.openxmlformats.org/officeDocument/2006/relationships/hyperlink" Target="https://pythonhosted.org/neurolab/ex_newp.html"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tmp"/></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youtube.com/watch?v=VhRtaziEWd4&amp;list=RDCMUCh9nVJoWXmFb7sLApWGcLPQ&amp;start_radio=1&amp;rv=VhRtaziEWd4&amp;t=956"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xp6kHUwK51Q" TargetMode="External"/><Relationship Id="rId2" Type="http://schemas.openxmlformats.org/officeDocument/2006/relationships/hyperlink" Target="https://www.youtube.com/watch?v=GheRR_0ZpyI" TargetMode="External"/><Relationship Id="rId1" Type="http://schemas.openxmlformats.org/officeDocument/2006/relationships/slideLayout" Target="../slideLayouts/slideLayout2.xml"/><Relationship Id="rId4" Type="http://schemas.openxmlformats.org/officeDocument/2006/relationships/hyperlink" Target="https://github.com/yitopeligo/perceptron-training/blob/master/perceptron_implementation.ipynb" TargetMode="External"/></Relationships>
</file>

<file path=ppt/slides/_rels/slide31.xml.rels><?xml version="1.0" encoding="UTF-8" standalone="yes"?>
<Relationships xmlns="http://schemas.openxmlformats.org/package/2006/relationships"><Relationship Id="rId2" Type="http://schemas.openxmlformats.org/officeDocument/2006/relationships/hyperlink" Target="https://www.youtube.com/watch?v=ER2It2mIagI"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arxiv.org/abs/1803.00657" TargetMode="External"/><Relationship Id="rId2" Type="http://schemas.openxmlformats.org/officeDocument/2006/relationships/hyperlink" Target="https://www.youtube.com/watch?v=ni6P5KU3SDU" TargetMode="External"/><Relationship Id="rId1" Type="http://schemas.openxmlformats.org/officeDocument/2006/relationships/slideLayout" Target="../slideLayouts/slideLayout2.xml"/><Relationship Id="rId6" Type="http://schemas.openxmlformats.org/officeDocument/2006/relationships/hyperlink" Target="https://www.youtube.com/watch?v=jjfDO2pWpys" TargetMode="External"/><Relationship Id="rId5" Type="http://schemas.openxmlformats.org/officeDocument/2006/relationships/hyperlink" Target="https://wandb.ai/site/papers" TargetMode="External"/><Relationship Id="rId4" Type="http://schemas.openxmlformats.org/officeDocument/2006/relationships/hyperlink" Target="https://www.youtube.com/watch?v=9RzCZZBjlx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cs231n.github.io/convolutional-networks/" TargetMode="External"/><Relationship Id="rId2" Type="http://schemas.openxmlformats.org/officeDocument/2006/relationships/hyperlink" Target="https://www.youtube.com/watch?v=zfiSAzpy9NM"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youtube.com/watch?v=7HPwo4wnJeA"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B8E55BE-9095-47B9-BAA0-6BB49435906F}"/>
              </a:ext>
            </a:extLst>
          </p:cNvPr>
          <p:cNvSpPr>
            <a:spLocks noGrp="1"/>
          </p:cNvSpPr>
          <p:nvPr>
            <p:ph type="ctrTitle"/>
          </p:nvPr>
        </p:nvSpPr>
        <p:spPr>
          <a:xfrm>
            <a:off x="365759" y="3794760"/>
            <a:ext cx="11471565" cy="1739347"/>
          </a:xfrm>
        </p:spPr>
        <p:txBody>
          <a:bodyPr>
            <a:normAutofit/>
          </a:bodyPr>
          <a:lstStyle/>
          <a:p>
            <a:r>
              <a:rPr lang="tr-TR" dirty="0">
                <a:solidFill>
                  <a:schemeClr val="tx1"/>
                </a:solidFill>
              </a:rPr>
              <a:t>Makine Öğrenmesi</a:t>
            </a:r>
          </a:p>
        </p:txBody>
      </p:sp>
      <p:sp>
        <p:nvSpPr>
          <p:cNvPr id="3" name="Alt Başlık 2">
            <a:extLst>
              <a:ext uri="{FF2B5EF4-FFF2-40B4-BE49-F238E27FC236}">
                <a16:creationId xmlns:a16="http://schemas.microsoft.com/office/drawing/2014/main" id="{1C3CC490-0BEB-438C-9C3B-D401EC19FB90}"/>
              </a:ext>
            </a:extLst>
          </p:cNvPr>
          <p:cNvSpPr>
            <a:spLocks noGrp="1"/>
          </p:cNvSpPr>
          <p:nvPr>
            <p:ph type="subTitle" idx="1"/>
          </p:nvPr>
        </p:nvSpPr>
        <p:spPr>
          <a:xfrm>
            <a:off x="1524000" y="5566519"/>
            <a:ext cx="9144000" cy="436076"/>
          </a:xfrm>
        </p:spPr>
        <p:txBody>
          <a:bodyPr>
            <a:normAutofit/>
          </a:bodyPr>
          <a:lstStyle/>
          <a:p>
            <a:endParaRPr lang="tr-TR" dirty="0"/>
          </a:p>
        </p:txBody>
      </p:sp>
      <p:pic>
        <p:nvPicPr>
          <p:cNvPr id="5" name="Picture 4" descr="Dişlilerin yakından görünümü">
            <a:extLst>
              <a:ext uri="{FF2B5EF4-FFF2-40B4-BE49-F238E27FC236}">
                <a16:creationId xmlns:a16="http://schemas.microsoft.com/office/drawing/2014/main" id="{49B720CC-E497-412E-A4F5-9A401DA0ED88}"/>
              </a:ext>
            </a:extLst>
          </p:cNvPr>
          <p:cNvPicPr>
            <a:picLocks noChangeAspect="1"/>
          </p:cNvPicPr>
          <p:nvPr/>
        </p:nvPicPr>
        <p:blipFill rotWithShape="1">
          <a:blip r:embed="rId2"/>
          <a:srcRect t="40480" b="19520"/>
          <a:stretch/>
        </p:blipFill>
        <p:spPr>
          <a:xfrm>
            <a:off x="20" y="10"/>
            <a:ext cx="12191980" cy="3657589"/>
          </a:xfrm>
          <a:prstGeom prst="rect">
            <a:avLst/>
          </a:prstGeom>
        </p:spPr>
      </p:pic>
    </p:spTree>
    <p:extLst>
      <p:ext uri="{BB962C8B-B14F-4D97-AF65-F5344CB8AC3E}">
        <p14:creationId xmlns:p14="http://schemas.microsoft.com/office/powerpoint/2010/main" val="3493821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AC8921C-0F51-4D81-9175-19006D426240}"/>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71243B72-8803-4FAD-A6EA-A2A3025F8117}"/>
              </a:ext>
            </a:extLst>
          </p:cNvPr>
          <p:cNvSpPr>
            <a:spLocks noGrp="1"/>
          </p:cNvSpPr>
          <p:nvPr>
            <p:ph idx="1"/>
          </p:nvPr>
        </p:nvSpPr>
        <p:spPr/>
        <p:txBody>
          <a:bodyPr/>
          <a:lstStyle/>
          <a:p>
            <a:r>
              <a:rPr lang="tr-TR" dirty="0"/>
              <a:t>Öğrenme</a:t>
            </a:r>
          </a:p>
          <a:p>
            <a:r>
              <a:rPr lang="tr-TR" dirty="0"/>
              <a:t>Görme</a:t>
            </a:r>
          </a:p>
          <a:p>
            <a:r>
              <a:rPr lang="tr-TR" dirty="0"/>
              <a:t>Görüntüyü Öğrenme</a:t>
            </a:r>
          </a:p>
          <a:p>
            <a:r>
              <a:rPr lang="tr-TR" dirty="0"/>
              <a:t>Görüntüyü Algılama</a:t>
            </a:r>
          </a:p>
          <a:p>
            <a:r>
              <a:rPr lang="tr-TR" dirty="0"/>
              <a:t>Makine Öğrenmesi</a:t>
            </a:r>
          </a:p>
          <a:p>
            <a:r>
              <a:rPr lang="tr-TR" dirty="0"/>
              <a:t>Nöron</a:t>
            </a:r>
          </a:p>
          <a:p>
            <a:r>
              <a:rPr lang="tr-TR" dirty="0" err="1"/>
              <a:t>Perceptron</a:t>
            </a:r>
            <a:endParaRPr lang="tr-TR" dirty="0"/>
          </a:p>
          <a:p>
            <a:r>
              <a:rPr lang="tr-TR" dirty="0" err="1"/>
              <a:t>Perceptron</a:t>
            </a:r>
            <a:r>
              <a:rPr lang="tr-TR" dirty="0"/>
              <a:t> Programlama</a:t>
            </a:r>
          </a:p>
        </p:txBody>
      </p:sp>
    </p:spTree>
    <p:extLst>
      <p:ext uri="{BB962C8B-B14F-4D97-AF65-F5344CB8AC3E}">
        <p14:creationId xmlns:p14="http://schemas.microsoft.com/office/powerpoint/2010/main" val="2222582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5CBABB-B3BD-4714-82D7-D070DB230B19}"/>
              </a:ext>
            </a:extLst>
          </p:cNvPr>
          <p:cNvSpPr>
            <a:spLocks noGrp="1"/>
          </p:cNvSpPr>
          <p:nvPr>
            <p:ph type="title"/>
          </p:nvPr>
        </p:nvSpPr>
        <p:spPr/>
        <p:txBody>
          <a:bodyPr/>
          <a:lstStyle/>
          <a:p>
            <a:r>
              <a:rPr lang="tr-TR" dirty="0"/>
              <a:t>Öğrenme</a:t>
            </a:r>
          </a:p>
        </p:txBody>
      </p:sp>
      <p:sp>
        <p:nvSpPr>
          <p:cNvPr id="3" name="İçerik Yer Tutucusu 2">
            <a:extLst>
              <a:ext uri="{FF2B5EF4-FFF2-40B4-BE49-F238E27FC236}">
                <a16:creationId xmlns:a16="http://schemas.microsoft.com/office/drawing/2014/main" id="{1F693357-89B8-4ADC-8E43-982478A87E4C}"/>
              </a:ext>
            </a:extLst>
          </p:cNvPr>
          <p:cNvSpPr>
            <a:spLocks noGrp="1"/>
          </p:cNvSpPr>
          <p:nvPr>
            <p:ph idx="1"/>
          </p:nvPr>
        </p:nvSpPr>
        <p:spPr/>
        <p:txBody>
          <a:bodyPr/>
          <a:lstStyle/>
          <a:p>
            <a:r>
              <a:rPr lang="tr-TR" dirty="0"/>
              <a:t>Makine öğrenmesi kavramının anlaşılabilmesi için öncelikle öğrenme kavramının tanımlanması gerekmektedir.</a:t>
            </a:r>
          </a:p>
          <a:p>
            <a:r>
              <a:rPr lang="tr-TR" dirty="0"/>
              <a:t>Öğrenme: «Zaman içerisinde yeni bilgilerin keşfedilmesi yoluyla davranışların iyileştirilmesi süreci» olarak tanımlanmaktadır.</a:t>
            </a:r>
          </a:p>
        </p:txBody>
      </p:sp>
    </p:spTree>
    <p:extLst>
      <p:ext uri="{BB962C8B-B14F-4D97-AF65-F5344CB8AC3E}">
        <p14:creationId xmlns:p14="http://schemas.microsoft.com/office/powerpoint/2010/main" val="3272731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919AF8-E260-4060-AC13-5BAD571AB473}"/>
              </a:ext>
            </a:extLst>
          </p:cNvPr>
          <p:cNvSpPr>
            <a:spLocks noGrp="1"/>
          </p:cNvSpPr>
          <p:nvPr>
            <p:ph type="title"/>
          </p:nvPr>
        </p:nvSpPr>
        <p:spPr/>
        <p:txBody>
          <a:bodyPr/>
          <a:lstStyle/>
          <a:p>
            <a:r>
              <a:rPr lang="tr-TR" dirty="0"/>
              <a:t>Makine Öğrenmesi</a:t>
            </a:r>
          </a:p>
        </p:txBody>
      </p:sp>
      <p:sp>
        <p:nvSpPr>
          <p:cNvPr id="3" name="İçerik Yer Tutucusu 2">
            <a:extLst>
              <a:ext uri="{FF2B5EF4-FFF2-40B4-BE49-F238E27FC236}">
                <a16:creationId xmlns:a16="http://schemas.microsoft.com/office/drawing/2014/main" id="{E9461B1B-2B1F-4A26-B44C-E1572B2D58DC}"/>
              </a:ext>
            </a:extLst>
          </p:cNvPr>
          <p:cNvSpPr>
            <a:spLocks noGrp="1"/>
          </p:cNvSpPr>
          <p:nvPr>
            <p:ph idx="1"/>
          </p:nvPr>
        </p:nvSpPr>
        <p:spPr/>
        <p:txBody>
          <a:bodyPr/>
          <a:lstStyle/>
          <a:p>
            <a:r>
              <a:rPr lang="tr-TR" dirty="0"/>
              <a:t>Makine Öğrenmesi: Öğrenme işleminin bilgisayarlar tarafından gerçekleştirilmesi sürecidir. </a:t>
            </a:r>
          </a:p>
          <a:p>
            <a:r>
              <a:rPr lang="tr-TR" dirty="0"/>
              <a:t>Makine Öğrenmesi: Bilgisayarın bir olay ile ilgili bilgileri ve tecrübeleri öğrenerek gelecekte oluşacak benzeri olaylar hakkında kararlar verebilmesi ve problemlere çözümler üretebilmesidir.</a:t>
            </a:r>
          </a:p>
          <a:p>
            <a:endParaRPr lang="tr-TR" dirty="0"/>
          </a:p>
          <a:p>
            <a:r>
              <a:rPr lang="tr-TR" dirty="0"/>
              <a:t>Bilgisayarın öğrenebilmesi ve tecrübe sahibi olabilmesi bilgisayarın ilgili olay hakkında bilgiler ile donatılmasına bağlıdır.</a:t>
            </a:r>
          </a:p>
          <a:p>
            <a:endParaRPr lang="tr-TR" dirty="0"/>
          </a:p>
        </p:txBody>
      </p:sp>
    </p:spTree>
    <p:extLst>
      <p:ext uri="{BB962C8B-B14F-4D97-AF65-F5344CB8AC3E}">
        <p14:creationId xmlns:p14="http://schemas.microsoft.com/office/powerpoint/2010/main" val="907194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C84C537-F4B3-402D-8CBA-35994D38DB39}"/>
              </a:ext>
            </a:extLst>
          </p:cNvPr>
          <p:cNvSpPr>
            <a:spLocks noGrp="1"/>
          </p:cNvSpPr>
          <p:nvPr>
            <p:ph type="title"/>
          </p:nvPr>
        </p:nvSpPr>
        <p:spPr/>
        <p:txBody>
          <a:bodyPr/>
          <a:lstStyle/>
          <a:p>
            <a:r>
              <a:rPr lang="tr-TR" dirty="0"/>
              <a:t>Makine Öğrenmesi Yöntemleri</a:t>
            </a:r>
          </a:p>
        </p:txBody>
      </p:sp>
      <p:sp>
        <p:nvSpPr>
          <p:cNvPr id="3" name="İçerik Yer Tutucusu 2">
            <a:extLst>
              <a:ext uri="{FF2B5EF4-FFF2-40B4-BE49-F238E27FC236}">
                <a16:creationId xmlns:a16="http://schemas.microsoft.com/office/drawing/2014/main" id="{BE5C676B-E7C3-4DF7-9B3E-FADB5CE8F418}"/>
              </a:ext>
            </a:extLst>
          </p:cNvPr>
          <p:cNvSpPr>
            <a:spLocks noGrp="1"/>
          </p:cNvSpPr>
          <p:nvPr>
            <p:ph idx="1"/>
          </p:nvPr>
        </p:nvSpPr>
        <p:spPr/>
        <p:txBody>
          <a:bodyPr/>
          <a:lstStyle/>
          <a:p>
            <a:r>
              <a:rPr lang="tr-TR" dirty="0" err="1"/>
              <a:t>Danışmanlı</a:t>
            </a:r>
            <a:r>
              <a:rPr lang="tr-TR" dirty="0"/>
              <a:t>-Öğretmenli Öğrenme (</a:t>
            </a:r>
            <a:r>
              <a:rPr lang="tr-TR" dirty="0" err="1"/>
              <a:t>Supervised</a:t>
            </a:r>
            <a:r>
              <a:rPr lang="tr-TR" dirty="0"/>
              <a:t>)</a:t>
            </a:r>
          </a:p>
          <a:p>
            <a:r>
              <a:rPr lang="tr-TR" dirty="0"/>
              <a:t>Destekleyici Öğrenme (</a:t>
            </a:r>
            <a:r>
              <a:rPr lang="tr-TR" dirty="0" err="1"/>
              <a:t>Reinforcement</a:t>
            </a:r>
            <a:r>
              <a:rPr lang="tr-TR" dirty="0"/>
              <a:t>)</a:t>
            </a:r>
          </a:p>
          <a:p>
            <a:r>
              <a:rPr lang="tr-TR" dirty="0"/>
              <a:t>Danışmansız-Öğretmensiz Öğrenme (</a:t>
            </a:r>
            <a:r>
              <a:rPr lang="tr-TR" dirty="0" err="1"/>
              <a:t>Unsupervised</a:t>
            </a:r>
            <a:r>
              <a:rPr lang="tr-TR" dirty="0"/>
              <a:t>)</a:t>
            </a:r>
          </a:p>
          <a:p>
            <a:r>
              <a:rPr lang="tr-TR" dirty="0"/>
              <a:t>Karma</a:t>
            </a:r>
          </a:p>
        </p:txBody>
      </p:sp>
    </p:spTree>
    <p:extLst>
      <p:ext uri="{BB962C8B-B14F-4D97-AF65-F5344CB8AC3E}">
        <p14:creationId xmlns:p14="http://schemas.microsoft.com/office/powerpoint/2010/main" val="2684690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2B8FB8-B760-46E9-86C7-6DD02F4B2223}"/>
              </a:ext>
            </a:extLst>
          </p:cNvPr>
          <p:cNvSpPr>
            <a:spLocks noGrp="1"/>
          </p:cNvSpPr>
          <p:nvPr>
            <p:ph type="title"/>
          </p:nvPr>
        </p:nvSpPr>
        <p:spPr/>
        <p:txBody>
          <a:bodyPr/>
          <a:lstStyle/>
          <a:p>
            <a:r>
              <a:rPr lang="tr-TR" dirty="0"/>
              <a:t>Makine ÖĞRENMESİ ÖRNEĞİ</a:t>
            </a:r>
          </a:p>
        </p:txBody>
      </p:sp>
      <p:sp>
        <p:nvSpPr>
          <p:cNvPr id="3" name="İçerik Yer Tutucusu 2">
            <a:extLst>
              <a:ext uri="{FF2B5EF4-FFF2-40B4-BE49-F238E27FC236}">
                <a16:creationId xmlns:a16="http://schemas.microsoft.com/office/drawing/2014/main" id="{7F8ACEF1-67F6-41BD-AD97-79C9C6743717}"/>
              </a:ext>
            </a:extLst>
          </p:cNvPr>
          <p:cNvSpPr>
            <a:spLocks noGrp="1"/>
          </p:cNvSpPr>
          <p:nvPr>
            <p:ph idx="1"/>
          </p:nvPr>
        </p:nvSpPr>
        <p:spPr/>
        <p:txBody>
          <a:bodyPr/>
          <a:lstStyle/>
          <a:p>
            <a:r>
              <a:rPr lang="tr-TR" dirty="0"/>
              <a:t>http://vision.stanford.edu/teaching/cs231n-demos/linear-classify/</a:t>
            </a:r>
          </a:p>
        </p:txBody>
      </p:sp>
    </p:spTree>
    <p:extLst>
      <p:ext uri="{BB962C8B-B14F-4D97-AF65-F5344CB8AC3E}">
        <p14:creationId xmlns:p14="http://schemas.microsoft.com/office/powerpoint/2010/main" val="3398390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B30006D-1AF3-4908-88E4-C887F3418CF2}"/>
              </a:ext>
            </a:extLst>
          </p:cNvPr>
          <p:cNvSpPr>
            <a:spLocks noGrp="1"/>
          </p:cNvSpPr>
          <p:nvPr>
            <p:ph type="title"/>
          </p:nvPr>
        </p:nvSpPr>
        <p:spPr/>
        <p:txBody>
          <a:bodyPr/>
          <a:lstStyle/>
          <a:p>
            <a:r>
              <a:rPr lang="tr-TR" dirty="0"/>
              <a:t>Öğretmenli Öğrenme (</a:t>
            </a:r>
            <a:r>
              <a:rPr lang="tr-TR" dirty="0" err="1"/>
              <a:t>Supervised</a:t>
            </a:r>
            <a:r>
              <a:rPr lang="tr-TR" dirty="0"/>
              <a:t>)</a:t>
            </a:r>
          </a:p>
        </p:txBody>
      </p:sp>
      <p:sp>
        <p:nvSpPr>
          <p:cNvPr id="3" name="İçerik Yer Tutucusu 2">
            <a:extLst>
              <a:ext uri="{FF2B5EF4-FFF2-40B4-BE49-F238E27FC236}">
                <a16:creationId xmlns:a16="http://schemas.microsoft.com/office/drawing/2014/main" id="{8E81E604-209B-4DA9-901A-91D22E84B74D}"/>
              </a:ext>
            </a:extLst>
          </p:cNvPr>
          <p:cNvSpPr>
            <a:spLocks noGrp="1"/>
          </p:cNvSpPr>
          <p:nvPr>
            <p:ph idx="1"/>
          </p:nvPr>
        </p:nvSpPr>
        <p:spPr/>
        <p:txBody>
          <a:bodyPr/>
          <a:lstStyle/>
          <a:p>
            <a:r>
              <a:rPr lang="tr-TR" dirty="0"/>
              <a:t>Öğretmen sisteme öğrenilmesi istenen olay ile ilgili örnekleri Girdi/Çıktı seti olarak verir.</a:t>
            </a:r>
          </a:p>
          <a:p>
            <a:r>
              <a:rPr lang="tr-TR" dirty="0"/>
              <a:t>Sistemin görevi girdileri öğretmenin belirlediği çıktılara haritalamaktır.</a:t>
            </a:r>
          </a:p>
          <a:p>
            <a:r>
              <a:rPr lang="tr-TR" dirty="0"/>
              <a:t>Çok katmanlı algılayıcı ağlar buna örnektir.</a:t>
            </a:r>
          </a:p>
        </p:txBody>
      </p:sp>
    </p:spTree>
    <p:extLst>
      <p:ext uri="{BB962C8B-B14F-4D97-AF65-F5344CB8AC3E}">
        <p14:creationId xmlns:p14="http://schemas.microsoft.com/office/powerpoint/2010/main" val="3204322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6015686-E154-42EC-8ECC-FFFB51C9B501}"/>
              </a:ext>
            </a:extLst>
          </p:cNvPr>
          <p:cNvSpPr>
            <a:spLocks noGrp="1"/>
          </p:cNvSpPr>
          <p:nvPr>
            <p:ph type="title"/>
          </p:nvPr>
        </p:nvSpPr>
        <p:spPr/>
        <p:txBody>
          <a:bodyPr/>
          <a:lstStyle/>
          <a:p>
            <a:r>
              <a:rPr lang="tr-TR" dirty="0"/>
              <a:t>Destekleyici Öğrenme (</a:t>
            </a:r>
            <a:r>
              <a:rPr lang="tr-TR" dirty="0" err="1"/>
              <a:t>Reinforcement</a:t>
            </a:r>
            <a:r>
              <a:rPr lang="tr-TR" dirty="0"/>
              <a:t>)</a:t>
            </a:r>
          </a:p>
        </p:txBody>
      </p:sp>
      <p:sp>
        <p:nvSpPr>
          <p:cNvPr id="3" name="İçerik Yer Tutucusu 2">
            <a:extLst>
              <a:ext uri="{FF2B5EF4-FFF2-40B4-BE49-F238E27FC236}">
                <a16:creationId xmlns:a16="http://schemas.microsoft.com/office/drawing/2014/main" id="{2E3190D0-2E31-46AE-831C-E1CFF5B65BE6}"/>
              </a:ext>
            </a:extLst>
          </p:cNvPr>
          <p:cNvSpPr>
            <a:spLocks noGrp="1"/>
          </p:cNvSpPr>
          <p:nvPr>
            <p:ph idx="1"/>
          </p:nvPr>
        </p:nvSpPr>
        <p:spPr/>
        <p:txBody>
          <a:bodyPr/>
          <a:lstStyle/>
          <a:p>
            <a:r>
              <a:rPr lang="tr-TR" dirty="0"/>
              <a:t>Bu öğrenme yaklaşımında ağın her </a:t>
            </a:r>
            <a:r>
              <a:rPr lang="tr-TR" dirty="0" err="1"/>
              <a:t>iterasyonu</a:t>
            </a:r>
            <a:r>
              <a:rPr lang="tr-TR" dirty="0"/>
              <a:t> sonucunda elde ettiği sonucun iyi veya kötü olup olmadığına dair bir bilgi verilir. Ağ bu bilgilere göre kendini yeniden düzenler. Bu sayede ağ herhangi bir girdi dizisiyle hem öğrenerek hem de sonuç çıkararak işlemeye devam eder.</a:t>
            </a:r>
          </a:p>
        </p:txBody>
      </p:sp>
    </p:spTree>
    <p:extLst>
      <p:ext uri="{BB962C8B-B14F-4D97-AF65-F5344CB8AC3E}">
        <p14:creationId xmlns:p14="http://schemas.microsoft.com/office/powerpoint/2010/main" val="3850833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1EE156C-44F6-4642-ACF2-19C8D2B2634A}"/>
              </a:ext>
            </a:extLst>
          </p:cNvPr>
          <p:cNvSpPr>
            <a:spLocks noGrp="1"/>
          </p:cNvSpPr>
          <p:nvPr>
            <p:ph type="title"/>
          </p:nvPr>
        </p:nvSpPr>
        <p:spPr/>
        <p:txBody>
          <a:bodyPr/>
          <a:lstStyle/>
          <a:p>
            <a:r>
              <a:rPr lang="tr-TR" dirty="0"/>
              <a:t>Öğretmensiz Öğrenme</a:t>
            </a:r>
          </a:p>
        </p:txBody>
      </p:sp>
      <p:sp>
        <p:nvSpPr>
          <p:cNvPr id="3" name="İçerik Yer Tutucusu 2">
            <a:extLst>
              <a:ext uri="{FF2B5EF4-FFF2-40B4-BE49-F238E27FC236}">
                <a16:creationId xmlns:a16="http://schemas.microsoft.com/office/drawing/2014/main" id="{F89C37C8-AD8F-448C-8316-71FBEAB04E17}"/>
              </a:ext>
            </a:extLst>
          </p:cNvPr>
          <p:cNvSpPr>
            <a:spLocks noGrp="1"/>
          </p:cNvSpPr>
          <p:nvPr>
            <p:ph idx="1"/>
          </p:nvPr>
        </p:nvSpPr>
        <p:spPr/>
        <p:txBody>
          <a:bodyPr/>
          <a:lstStyle/>
          <a:p>
            <a:r>
              <a:rPr lang="tr-TR" dirty="0"/>
              <a:t>Danışmansız öğrenmede ağa öğrenme sırasında sadece örnek girdiler verilmektedir. Herhangi bir beklenen çıktı bilgisi verilmez. Girişte verilen bilgilere göre ağ her bir örneği kendi arasında sınıflandıracak şekilde kendi kurallarını oluşturur. Ağ bağlantı ağırlıklarını aynı özellikte olan dokuları ayırabilecek şekilde düzenleyerek öğrenme işlemini tamamlar.</a:t>
            </a:r>
          </a:p>
        </p:txBody>
      </p:sp>
    </p:spTree>
    <p:extLst>
      <p:ext uri="{BB962C8B-B14F-4D97-AF65-F5344CB8AC3E}">
        <p14:creationId xmlns:p14="http://schemas.microsoft.com/office/powerpoint/2010/main" val="1570583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83FCA34-2719-44F0-828F-7D08FDE88DFF}"/>
              </a:ext>
            </a:extLst>
          </p:cNvPr>
          <p:cNvSpPr>
            <a:spLocks noGrp="1"/>
          </p:cNvSpPr>
          <p:nvPr>
            <p:ph type="title"/>
          </p:nvPr>
        </p:nvSpPr>
        <p:spPr/>
        <p:txBody>
          <a:bodyPr/>
          <a:lstStyle/>
          <a:p>
            <a:r>
              <a:rPr lang="tr-TR" dirty="0"/>
              <a:t>Yapay Sinir Ağları</a:t>
            </a:r>
          </a:p>
        </p:txBody>
      </p:sp>
      <p:sp>
        <p:nvSpPr>
          <p:cNvPr id="3" name="İçerik Yer Tutucusu 2">
            <a:extLst>
              <a:ext uri="{FF2B5EF4-FFF2-40B4-BE49-F238E27FC236}">
                <a16:creationId xmlns:a16="http://schemas.microsoft.com/office/drawing/2014/main" id="{E86CBB71-F986-4B8A-9060-42EC48D12BD1}"/>
              </a:ext>
            </a:extLst>
          </p:cNvPr>
          <p:cNvSpPr>
            <a:spLocks noGrp="1"/>
          </p:cNvSpPr>
          <p:nvPr>
            <p:ph idx="1"/>
          </p:nvPr>
        </p:nvSpPr>
        <p:spPr/>
        <p:txBody>
          <a:bodyPr/>
          <a:lstStyle/>
          <a:p>
            <a:r>
              <a:rPr lang="tr-TR" dirty="0"/>
              <a:t>Yapay sinir ağları, makine öğrenmesinde kullanılan bir tür algoritma taslağıdır. Bu taslak, insan beyninden esinlenilerek geliştirilmiştir.</a:t>
            </a:r>
          </a:p>
          <a:p>
            <a:r>
              <a:rPr lang="tr-TR" dirty="0"/>
              <a:t>Yapay Sinir Ağları: insan beyninin özelliklerinden olan öğrenme yolu ile yeni bilgiler üretebilme, yeni bilgiler oluşturabilme ve keşfedebilme gibi yetenekleri herhangi bir yardım almadan otomatik olarak gerçekleştirmek amacı ile geliştirilen bilgisayar sistemleridir.</a:t>
            </a:r>
          </a:p>
        </p:txBody>
      </p:sp>
    </p:spTree>
    <p:extLst>
      <p:ext uri="{BB962C8B-B14F-4D97-AF65-F5344CB8AC3E}">
        <p14:creationId xmlns:p14="http://schemas.microsoft.com/office/powerpoint/2010/main" val="1231485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98BF271-472B-4F4F-B05A-71969C258C8D}"/>
              </a:ext>
            </a:extLst>
          </p:cNvPr>
          <p:cNvSpPr>
            <a:spLocks noGrp="1"/>
          </p:cNvSpPr>
          <p:nvPr>
            <p:ph type="title"/>
          </p:nvPr>
        </p:nvSpPr>
        <p:spPr/>
        <p:txBody>
          <a:bodyPr/>
          <a:lstStyle/>
          <a:p>
            <a:r>
              <a:rPr lang="tr-TR" dirty="0"/>
              <a:t>Beyin</a:t>
            </a:r>
          </a:p>
        </p:txBody>
      </p:sp>
      <p:sp>
        <p:nvSpPr>
          <p:cNvPr id="3" name="İçerik Yer Tutucusu 2">
            <a:extLst>
              <a:ext uri="{FF2B5EF4-FFF2-40B4-BE49-F238E27FC236}">
                <a16:creationId xmlns:a16="http://schemas.microsoft.com/office/drawing/2014/main" id="{5BE9FE29-67B0-465A-B295-A2B850FE4A51}"/>
              </a:ext>
            </a:extLst>
          </p:cNvPr>
          <p:cNvSpPr>
            <a:spLocks noGrp="1"/>
          </p:cNvSpPr>
          <p:nvPr>
            <p:ph idx="1"/>
          </p:nvPr>
        </p:nvSpPr>
        <p:spPr/>
        <p:txBody>
          <a:bodyPr/>
          <a:lstStyle/>
          <a:p>
            <a:r>
              <a:rPr lang="tr-TR" dirty="0"/>
              <a:t>161</a:t>
            </a:r>
          </a:p>
        </p:txBody>
      </p:sp>
    </p:spTree>
    <p:extLst>
      <p:ext uri="{BB962C8B-B14F-4D97-AF65-F5344CB8AC3E}">
        <p14:creationId xmlns:p14="http://schemas.microsoft.com/office/powerpoint/2010/main" val="2461757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1F775C-DF70-41D8-85E1-485EB1196C95}"/>
              </a:ext>
            </a:extLst>
          </p:cNvPr>
          <p:cNvSpPr>
            <a:spLocks noGrp="1"/>
          </p:cNvSpPr>
          <p:nvPr>
            <p:ph type="title"/>
          </p:nvPr>
        </p:nvSpPr>
        <p:spPr/>
        <p:txBody>
          <a:bodyPr/>
          <a:lstStyle/>
          <a:p>
            <a:r>
              <a:rPr lang="tr-TR" dirty="0"/>
              <a:t>Sinir Hücresi</a:t>
            </a:r>
          </a:p>
        </p:txBody>
      </p:sp>
      <p:pic>
        <p:nvPicPr>
          <p:cNvPr id="5" name="Resim 4">
            <a:extLst>
              <a:ext uri="{FF2B5EF4-FFF2-40B4-BE49-F238E27FC236}">
                <a16:creationId xmlns:a16="http://schemas.microsoft.com/office/drawing/2014/main" id="{86A461B9-7062-46A3-A99C-164270EF8F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23" y="2730295"/>
            <a:ext cx="5524979" cy="3314987"/>
          </a:xfrm>
          <a:prstGeom prst="rect">
            <a:avLst/>
          </a:prstGeom>
        </p:spPr>
      </p:pic>
      <p:grpSp>
        <p:nvGrpSpPr>
          <p:cNvPr id="9" name="Grup 8">
            <a:extLst>
              <a:ext uri="{FF2B5EF4-FFF2-40B4-BE49-F238E27FC236}">
                <a16:creationId xmlns:a16="http://schemas.microsoft.com/office/drawing/2014/main" id="{07CC8AE9-979F-4CE2-B52F-7EFE6AFCC998}"/>
              </a:ext>
            </a:extLst>
          </p:cNvPr>
          <p:cNvGrpSpPr/>
          <p:nvPr/>
        </p:nvGrpSpPr>
        <p:grpSpPr>
          <a:xfrm>
            <a:off x="6200998" y="2759147"/>
            <a:ext cx="5324698" cy="3169463"/>
            <a:chOff x="6401279" y="2808514"/>
            <a:chExt cx="5324698" cy="3169463"/>
          </a:xfrm>
        </p:grpSpPr>
        <p:pic>
          <p:nvPicPr>
            <p:cNvPr id="7" name="Resim 6">
              <a:extLst>
                <a:ext uri="{FF2B5EF4-FFF2-40B4-BE49-F238E27FC236}">
                  <a16:creationId xmlns:a16="http://schemas.microsoft.com/office/drawing/2014/main" id="{1D68506A-C195-41F0-BA52-86163D8195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1279" y="2808514"/>
              <a:ext cx="5324698" cy="3169463"/>
            </a:xfrm>
            <a:prstGeom prst="rect">
              <a:avLst/>
            </a:prstGeom>
          </p:spPr>
        </p:pic>
        <p:sp>
          <p:nvSpPr>
            <p:cNvPr id="8" name="Oval 7">
              <a:extLst>
                <a:ext uri="{FF2B5EF4-FFF2-40B4-BE49-F238E27FC236}">
                  <a16:creationId xmlns:a16="http://schemas.microsoft.com/office/drawing/2014/main" id="{E750CE98-30F7-483E-B442-E05947EA3F0B}"/>
                </a:ext>
              </a:extLst>
            </p:cNvPr>
            <p:cNvSpPr/>
            <p:nvPr/>
          </p:nvSpPr>
          <p:spPr>
            <a:xfrm>
              <a:off x="6408773" y="4198776"/>
              <a:ext cx="867747" cy="11476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spTree>
    <p:extLst>
      <p:ext uri="{BB962C8B-B14F-4D97-AF65-F5344CB8AC3E}">
        <p14:creationId xmlns:p14="http://schemas.microsoft.com/office/powerpoint/2010/main" val="2157848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1F775C-DF70-41D8-85E1-485EB1196C95}"/>
              </a:ext>
            </a:extLst>
          </p:cNvPr>
          <p:cNvSpPr>
            <a:spLocks noGrp="1"/>
          </p:cNvSpPr>
          <p:nvPr>
            <p:ph type="title"/>
          </p:nvPr>
        </p:nvSpPr>
        <p:spPr/>
        <p:txBody>
          <a:bodyPr/>
          <a:lstStyle/>
          <a:p>
            <a:r>
              <a:rPr lang="tr-TR" dirty="0"/>
              <a:t>Sinir Hücresi</a:t>
            </a:r>
          </a:p>
        </p:txBody>
      </p:sp>
      <p:pic>
        <p:nvPicPr>
          <p:cNvPr id="4098" name="Picture 2" descr="Artificial Neural Network Structure">
            <a:extLst>
              <a:ext uri="{FF2B5EF4-FFF2-40B4-BE49-F238E27FC236}">
                <a16:creationId xmlns:a16="http://schemas.microsoft.com/office/drawing/2014/main" id="{1BFB120A-1B2D-4E8C-BB99-A4CB8B989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615" y="2277440"/>
            <a:ext cx="5275409" cy="429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750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C94F94D-34DC-4123-9EB9-22713392373F}"/>
              </a:ext>
            </a:extLst>
          </p:cNvPr>
          <p:cNvSpPr>
            <a:spLocks noGrp="1"/>
          </p:cNvSpPr>
          <p:nvPr>
            <p:ph type="title"/>
          </p:nvPr>
        </p:nvSpPr>
        <p:spPr/>
        <p:txBody>
          <a:bodyPr/>
          <a:lstStyle/>
          <a:p>
            <a:r>
              <a:rPr lang="tr-TR" dirty="0" err="1"/>
              <a:t>Perceptron</a:t>
            </a:r>
            <a:r>
              <a:rPr lang="tr-TR" dirty="0"/>
              <a:t> kavramı</a:t>
            </a:r>
          </a:p>
        </p:txBody>
      </p:sp>
      <p:sp>
        <p:nvSpPr>
          <p:cNvPr id="3" name="İçerik Yer Tutucusu 2">
            <a:extLst>
              <a:ext uri="{FF2B5EF4-FFF2-40B4-BE49-F238E27FC236}">
                <a16:creationId xmlns:a16="http://schemas.microsoft.com/office/drawing/2014/main" id="{3EC859A8-CA3B-41FC-B13E-8A2CFB5E65ED}"/>
              </a:ext>
            </a:extLst>
          </p:cNvPr>
          <p:cNvSpPr>
            <a:spLocks noGrp="1"/>
          </p:cNvSpPr>
          <p:nvPr>
            <p:ph idx="1"/>
          </p:nvPr>
        </p:nvSpPr>
        <p:spPr/>
        <p:txBody>
          <a:bodyPr/>
          <a:lstStyle/>
          <a:p>
            <a:r>
              <a:rPr lang="tr-TR" dirty="0"/>
              <a:t>174, </a:t>
            </a:r>
            <a:r>
              <a:rPr lang="tr-TR" dirty="0" err="1"/>
              <a:t>Perceptron</a:t>
            </a:r>
            <a:r>
              <a:rPr lang="tr-TR" dirty="0"/>
              <a:t>, çıktısı 0 yada 1 olan bir doğrusal sınıflandırıcıdır. </a:t>
            </a:r>
          </a:p>
        </p:txBody>
      </p:sp>
      <p:pic>
        <p:nvPicPr>
          <p:cNvPr id="1026" name="Picture 2" descr="Perceptron Yapısı">
            <a:extLst>
              <a:ext uri="{FF2B5EF4-FFF2-40B4-BE49-F238E27FC236}">
                <a16:creationId xmlns:a16="http://schemas.microsoft.com/office/drawing/2014/main" id="{20384609-0F5E-49CA-813E-9D3BEF54EC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981" y="3038290"/>
            <a:ext cx="3667125" cy="24193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Metin kutusu 5">
            <a:extLst>
              <a:ext uri="{FF2B5EF4-FFF2-40B4-BE49-F238E27FC236}">
                <a16:creationId xmlns:a16="http://schemas.microsoft.com/office/drawing/2014/main" id="{F2E4030C-D2CC-4959-B48D-DE364864EB59}"/>
              </a:ext>
            </a:extLst>
          </p:cNvPr>
          <p:cNvSpPr txBox="1"/>
          <p:nvPr/>
        </p:nvSpPr>
        <p:spPr>
          <a:xfrm>
            <a:off x="4613292" y="3429000"/>
            <a:ext cx="6094520" cy="646331"/>
          </a:xfrm>
          <a:prstGeom prst="rect">
            <a:avLst/>
          </a:prstGeom>
          <a:noFill/>
        </p:spPr>
        <p:txBody>
          <a:bodyPr wrap="square">
            <a:spAutoFit/>
          </a:bodyPr>
          <a:lstStyle/>
          <a:p>
            <a:r>
              <a:rPr lang="tr-TR" dirty="0"/>
              <a:t>https://github.com/yitopeligo/perceptron-training/blob/master/perceptron_implementation.ipynb</a:t>
            </a:r>
          </a:p>
        </p:txBody>
      </p:sp>
    </p:spTree>
    <p:extLst>
      <p:ext uri="{BB962C8B-B14F-4D97-AF65-F5344CB8AC3E}">
        <p14:creationId xmlns:p14="http://schemas.microsoft.com/office/powerpoint/2010/main" val="1586379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9EA22A6-15E5-45CD-BD95-5B0959D5C7D9}"/>
              </a:ext>
            </a:extLst>
          </p:cNvPr>
          <p:cNvSpPr>
            <a:spLocks noGrp="1"/>
          </p:cNvSpPr>
          <p:nvPr>
            <p:ph type="title"/>
          </p:nvPr>
        </p:nvSpPr>
        <p:spPr/>
        <p:txBody>
          <a:bodyPr/>
          <a:lstStyle/>
          <a:p>
            <a:r>
              <a:rPr lang="tr-TR" dirty="0" err="1"/>
              <a:t>YaPAY</a:t>
            </a:r>
            <a:r>
              <a:rPr lang="tr-TR" dirty="0"/>
              <a:t> SİNİR AĞI, 178</a:t>
            </a:r>
          </a:p>
        </p:txBody>
      </p:sp>
      <p:pic>
        <p:nvPicPr>
          <p:cNvPr id="2050" name="Picture 2" descr="çizim içeren bir resim&#10;&#10;Açıklama otomatik olarak oluşturuldu">
            <a:extLst>
              <a:ext uri="{FF2B5EF4-FFF2-40B4-BE49-F238E27FC236}">
                <a16:creationId xmlns:a16="http://schemas.microsoft.com/office/drawing/2014/main" id="{09124BA3-1072-4488-995B-5ED016F3D2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8313" y="2277997"/>
            <a:ext cx="4355373" cy="4295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800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47C4E2-5D32-47CD-839C-ABF827ACFE58}"/>
              </a:ext>
            </a:extLst>
          </p:cNvPr>
          <p:cNvSpPr>
            <a:spLocks noGrp="1"/>
          </p:cNvSpPr>
          <p:nvPr>
            <p:ph type="title"/>
          </p:nvPr>
        </p:nvSpPr>
        <p:spPr/>
        <p:txBody>
          <a:bodyPr/>
          <a:lstStyle/>
          <a:p>
            <a:r>
              <a:rPr lang="tr-TR" dirty="0"/>
              <a:t>YSA ÖRNEKLERİ</a:t>
            </a:r>
          </a:p>
        </p:txBody>
      </p:sp>
      <p:pic>
        <p:nvPicPr>
          <p:cNvPr id="3074" name="Picture 2">
            <a:extLst>
              <a:ext uri="{FF2B5EF4-FFF2-40B4-BE49-F238E27FC236}">
                <a16:creationId xmlns:a16="http://schemas.microsoft.com/office/drawing/2014/main" id="{0D266178-A556-4EBB-B589-C527456EBB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1277" y="0"/>
            <a:ext cx="81073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9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EA73F7F-D97F-4749-BD7A-E4528B37FC05}"/>
              </a:ext>
            </a:extLst>
          </p:cNvPr>
          <p:cNvSpPr>
            <a:spLocks noGrp="1"/>
          </p:cNvSpPr>
          <p:nvPr>
            <p:ph type="title"/>
          </p:nvPr>
        </p:nvSpPr>
        <p:spPr/>
        <p:txBody>
          <a:bodyPr/>
          <a:lstStyle/>
          <a:p>
            <a:r>
              <a:rPr lang="tr-TR" dirty="0"/>
              <a:t>YSA ÖRNEKLERİ</a:t>
            </a:r>
          </a:p>
        </p:txBody>
      </p:sp>
      <p:pic>
        <p:nvPicPr>
          <p:cNvPr id="2050" name="Picture 2" descr="3 types of neural networks that AI uses | Artificial Intelligence |">
            <a:extLst>
              <a:ext uri="{FF2B5EF4-FFF2-40B4-BE49-F238E27FC236}">
                <a16:creationId xmlns:a16="http://schemas.microsoft.com/office/drawing/2014/main" id="{04B04C1B-976B-4F2D-B1F7-8F88569511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092" y="1894552"/>
            <a:ext cx="4876800" cy="4876800"/>
          </a:xfrm>
          <a:prstGeom prst="rect">
            <a:avLst/>
          </a:prstGeom>
          <a:noFill/>
          <a:extLst>
            <a:ext uri="{909E8E84-426E-40DD-AFC4-6F175D3DCCD1}">
              <a14:hiddenFill xmlns:a14="http://schemas.microsoft.com/office/drawing/2010/main">
                <a:solidFill>
                  <a:srgbClr val="FFFFFF"/>
                </a:solidFill>
              </a14:hiddenFill>
            </a:ext>
          </a:extLst>
        </p:spPr>
      </p:pic>
      <p:sp>
        <p:nvSpPr>
          <p:cNvPr id="7" name="Metin kutusu 6">
            <a:extLst>
              <a:ext uri="{FF2B5EF4-FFF2-40B4-BE49-F238E27FC236}">
                <a16:creationId xmlns:a16="http://schemas.microsoft.com/office/drawing/2014/main" id="{B873220D-1756-478D-A0EA-4B787273F609}"/>
              </a:ext>
            </a:extLst>
          </p:cNvPr>
          <p:cNvSpPr txBox="1"/>
          <p:nvPr/>
        </p:nvSpPr>
        <p:spPr>
          <a:xfrm>
            <a:off x="6097480" y="3963620"/>
            <a:ext cx="6094520" cy="369332"/>
          </a:xfrm>
          <a:prstGeom prst="rect">
            <a:avLst/>
          </a:prstGeom>
          <a:noFill/>
        </p:spPr>
        <p:txBody>
          <a:bodyPr wrap="square">
            <a:spAutoFit/>
          </a:bodyPr>
          <a:lstStyle/>
          <a:p>
            <a:r>
              <a:rPr lang="tr-TR" dirty="0"/>
              <a:t>https://www.asimovinstitute.org/neural-network-zoo/</a:t>
            </a:r>
          </a:p>
        </p:txBody>
      </p:sp>
      <p:sp>
        <p:nvSpPr>
          <p:cNvPr id="9" name="Metin kutusu 8">
            <a:extLst>
              <a:ext uri="{FF2B5EF4-FFF2-40B4-BE49-F238E27FC236}">
                <a16:creationId xmlns:a16="http://schemas.microsoft.com/office/drawing/2014/main" id="{48A6218D-144F-4F33-8941-2665FE4E8768}"/>
              </a:ext>
            </a:extLst>
          </p:cNvPr>
          <p:cNvSpPr txBox="1"/>
          <p:nvPr/>
        </p:nvSpPr>
        <p:spPr>
          <a:xfrm>
            <a:off x="6097480" y="4390397"/>
            <a:ext cx="6094520" cy="923330"/>
          </a:xfrm>
          <a:prstGeom prst="rect">
            <a:avLst/>
          </a:prstGeom>
          <a:noFill/>
        </p:spPr>
        <p:txBody>
          <a:bodyPr wrap="square">
            <a:spAutoFit/>
          </a:bodyPr>
          <a:lstStyle/>
          <a:p>
            <a:r>
              <a:rPr lang="tr-TR" i="0" u="sng" dirty="0">
                <a:solidFill>
                  <a:srgbClr val="202124"/>
                </a:solidFill>
                <a:effectLst/>
                <a:hlinkClick r:id="rId3"/>
              </a:rPr>
              <a:t>https://playground.tensorflow.org</a:t>
            </a:r>
            <a:endParaRPr lang="tr-TR" u="sng" dirty="0">
              <a:solidFill>
                <a:srgbClr val="1A0DAB"/>
              </a:solidFill>
              <a:effectLst/>
              <a:hlinkClick r:id="rId3"/>
            </a:endParaRPr>
          </a:p>
          <a:p>
            <a:br>
              <a:rPr lang="tr-TR" b="0" i="0" u="none" strike="noStrike" dirty="0">
                <a:solidFill>
                  <a:srgbClr val="1A0DAB"/>
                </a:solidFill>
                <a:effectLst/>
                <a:latin typeface="arial" panose="020B0604020202020204" pitchFamily="34" charset="0"/>
                <a:hlinkClick r:id="rId4"/>
              </a:rPr>
            </a:br>
            <a:endParaRPr lang="tr-TR" dirty="0"/>
          </a:p>
        </p:txBody>
      </p:sp>
      <p:sp>
        <p:nvSpPr>
          <p:cNvPr id="11" name="Metin kutusu 10">
            <a:extLst>
              <a:ext uri="{FF2B5EF4-FFF2-40B4-BE49-F238E27FC236}">
                <a16:creationId xmlns:a16="http://schemas.microsoft.com/office/drawing/2014/main" id="{B32CECB5-1234-4993-9781-C699A3E52281}"/>
              </a:ext>
            </a:extLst>
          </p:cNvPr>
          <p:cNvSpPr txBox="1"/>
          <p:nvPr/>
        </p:nvSpPr>
        <p:spPr>
          <a:xfrm>
            <a:off x="6097480" y="4852062"/>
            <a:ext cx="6094520" cy="369332"/>
          </a:xfrm>
          <a:prstGeom prst="rect">
            <a:avLst/>
          </a:prstGeom>
          <a:noFill/>
        </p:spPr>
        <p:txBody>
          <a:bodyPr wrap="square">
            <a:spAutoFit/>
          </a:bodyPr>
          <a:lstStyle/>
          <a:p>
            <a:r>
              <a:rPr lang="tr-TR" dirty="0"/>
              <a:t>https://github.com/lutzroeder/netron</a:t>
            </a:r>
          </a:p>
        </p:txBody>
      </p:sp>
    </p:spTree>
    <p:extLst>
      <p:ext uri="{BB962C8B-B14F-4D97-AF65-F5344CB8AC3E}">
        <p14:creationId xmlns:p14="http://schemas.microsoft.com/office/powerpoint/2010/main" val="2088536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F5DA19A-4B37-465E-ACC7-D742FC1A856E}"/>
              </a:ext>
            </a:extLst>
          </p:cNvPr>
          <p:cNvSpPr>
            <a:spLocks noGrp="1"/>
          </p:cNvSpPr>
          <p:nvPr>
            <p:ph type="title"/>
          </p:nvPr>
        </p:nvSpPr>
        <p:spPr/>
        <p:txBody>
          <a:bodyPr/>
          <a:lstStyle/>
          <a:p>
            <a:r>
              <a:rPr lang="tr-TR" b="0" i="0" dirty="0" err="1">
                <a:solidFill>
                  <a:srgbClr val="212224"/>
                </a:solidFill>
                <a:effectLst/>
                <a:latin typeface="Arial" panose="020B0604020202020204" pitchFamily="34" charset="0"/>
              </a:rPr>
              <a:t>SIngle</a:t>
            </a:r>
            <a:r>
              <a:rPr lang="tr-TR" b="0" i="0" dirty="0">
                <a:solidFill>
                  <a:srgbClr val="212224"/>
                </a:solidFill>
                <a:effectLst/>
                <a:latin typeface="Arial" panose="020B0604020202020204" pitchFamily="34" charset="0"/>
              </a:rPr>
              <a:t> </a:t>
            </a:r>
            <a:r>
              <a:rPr lang="tr-TR" b="0" i="0" dirty="0" err="1">
                <a:solidFill>
                  <a:srgbClr val="212224"/>
                </a:solidFill>
                <a:effectLst/>
                <a:latin typeface="Arial" panose="020B0604020202020204" pitchFamily="34" charset="0"/>
              </a:rPr>
              <a:t>Layer</a:t>
            </a:r>
            <a:r>
              <a:rPr lang="tr-TR" b="0" i="0" dirty="0">
                <a:solidFill>
                  <a:srgbClr val="212224"/>
                </a:solidFill>
                <a:effectLst/>
                <a:latin typeface="Arial" panose="020B0604020202020204" pitchFamily="34" charset="0"/>
              </a:rPr>
              <a:t> </a:t>
            </a:r>
            <a:r>
              <a:rPr lang="tr-TR" b="0" i="0" dirty="0" err="1">
                <a:solidFill>
                  <a:srgbClr val="212224"/>
                </a:solidFill>
                <a:effectLst/>
                <a:latin typeface="Arial" panose="020B0604020202020204" pitchFamily="34" charset="0"/>
              </a:rPr>
              <a:t>Perceptron</a:t>
            </a:r>
            <a:br>
              <a:rPr lang="tr-TR" b="0" i="0" dirty="0">
                <a:solidFill>
                  <a:srgbClr val="212224"/>
                </a:solidFill>
                <a:effectLst/>
                <a:latin typeface="Arial" panose="020B0604020202020204" pitchFamily="34" charset="0"/>
              </a:rPr>
            </a:br>
            <a:r>
              <a:rPr lang="tr-TR" b="0" i="0" dirty="0">
                <a:solidFill>
                  <a:srgbClr val="212224"/>
                </a:solidFill>
                <a:effectLst/>
                <a:latin typeface="Arial" panose="020B0604020202020204" pitchFamily="34" charset="0"/>
              </a:rPr>
              <a:t>TEK KATMANLI ALGILAYICI</a:t>
            </a:r>
            <a:endParaRPr lang="tr-TR" dirty="0"/>
          </a:p>
        </p:txBody>
      </p:sp>
      <p:sp>
        <p:nvSpPr>
          <p:cNvPr id="3" name="İçerik Yer Tutucusu 2">
            <a:extLst>
              <a:ext uri="{FF2B5EF4-FFF2-40B4-BE49-F238E27FC236}">
                <a16:creationId xmlns:a16="http://schemas.microsoft.com/office/drawing/2014/main" id="{AD91F0F1-0663-4CE4-AA8F-1DAFA35D3051}"/>
              </a:ext>
            </a:extLst>
          </p:cNvPr>
          <p:cNvSpPr>
            <a:spLocks noGrp="1"/>
          </p:cNvSpPr>
          <p:nvPr>
            <p:ph idx="1"/>
          </p:nvPr>
        </p:nvSpPr>
        <p:spPr/>
        <p:txBody>
          <a:bodyPr/>
          <a:lstStyle/>
          <a:p>
            <a:r>
              <a:rPr lang="tr-TR" dirty="0">
                <a:hlinkClick r:id="rId2"/>
              </a:rPr>
              <a:t>https://pythonhosted.org/neurolab/ex_newp.html</a:t>
            </a:r>
            <a:endParaRPr lang="tr-TR" dirty="0"/>
          </a:p>
          <a:p>
            <a:r>
              <a:rPr lang="tr-TR" dirty="0">
                <a:hlinkClick r:id="rId3"/>
              </a:rPr>
              <a:t>https://github.com/yitopeligo/perceptron-training/blob/master/perceptron_implementation.ipynb</a:t>
            </a:r>
            <a:endParaRPr lang="tr-TR" dirty="0"/>
          </a:p>
          <a:p>
            <a:endParaRPr lang="tr-TR" dirty="0"/>
          </a:p>
          <a:p>
            <a:endParaRPr lang="tr-TR" dirty="0"/>
          </a:p>
        </p:txBody>
      </p:sp>
      <p:pic>
        <p:nvPicPr>
          <p:cNvPr id="1026" name="Picture 2" descr="Target Prediction using Single-layer Perceptron and Multilayer Perceptron |  by Ananda Hange | Nerd For Tech | Apr, 2021 | Medium">
            <a:extLst>
              <a:ext uri="{FF2B5EF4-FFF2-40B4-BE49-F238E27FC236}">
                <a16:creationId xmlns:a16="http://schemas.microsoft.com/office/drawing/2014/main" id="{8E997FF3-BC0D-4FE7-A567-719F3711BC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1721" y="3388664"/>
            <a:ext cx="6086475"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369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78F3AB-F45C-406C-A628-61016283D872}"/>
              </a:ext>
            </a:extLst>
          </p:cNvPr>
          <p:cNvSpPr>
            <a:spLocks noGrp="1"/>
          </p:cNvSpPr>
          <p:nvPr>
            <p:ph type="title"/>
          </p:nvPr>
        </p:nvSpPr>
        <p:spPr/>
        <p:txBody>
          <a:bodyPr/>
          <a:lstStyle/>
          <a:p>
            <a:r>
              <a:rPr lang="tr-TR" b="0" i="0" dirty="0" err="1">
                <a:solidFill>
                  <a:srgbClr val="212224"/>
                </a:solidFill>
                <a:effectLst/>
                <a:latin typeface="Arial" panose="020B0604020202020204" pitchFamily="34" charset="0"/>
              </a:rPr>
              <a:t>SIngle</a:t>
            </a:r>
            <a:r>
              <a:rPr lang="tr-TR" b="0" i="0" dirty="0">
                <a:solidFill>
                  <a:srgbClr val="212224"/>
                </a:solidFill>
                <a:effectLst/>
                <a:latin typeface="Arial" panose="020B0604020202020204" pitchFamily="34" charset="0"/>
              </a:rPr>
              <a:t> </a:t>
            </a:r>
            <a:r>
              <a:rPr lang="tr-TR" b="0" i="0" dirty="0" err="1">
                <a:solidFill>
                  <a:srgbClr val="212224"/>
                </a:solidFill>
                <a:effectLst/>
                <a:latin typeface="Arial" panose="020B0604020202020204" pitchFamily="34" charset="0"/>
              </a:rPr>
              <a:t>Layer</a:t>
            </a:r>
            <a:r>
              <a:rPr lang="tr-TR" b="0" i="0" dirty="0">
                <a:solidFill>
                  <a:srgbClr val="212224"/>
                </a:solidFill>
                <a:effectLst/>
                <a:latin typeface="Arial" panose="020B0604020202020204" pitchFamily="34" charset="0"/>
              </a:rPr>
              <a:t> </a:t>
            </a:r>
            <a:r>
              <a:rPr lang="tr-TR" b="0" i="0" dirty="0" err="1">
                <a:solidFill>
                  <a:srgbClr val="212224"/>
                </a:solidFill>
                <a:effectLst/>
                <a:latin typeface="Arial" panose="020B0604020202020204" pitchFamily="34" charset="0"/>
              </a:rPr>
              <a:t>Perceptron</a:t>
            </a:r>
            <a:br>
              <a:rPr lang="tr-TR" b="0" i="0" dirty="0">
                <a:solidFill>
                  <a:srgbClr val="212224"/>
                </a:solidFill>
                <a:effectLst/>
                <a:latin typeface="Arial" panose="020B0604020202020204" pitchFamily="34" charset="0"/>
              </a:rPr>
            </a:br>
            <a:r>
              <a:rPr lang="tr-TR" b="0" i="0" dirty="0">
                <a:solidFill>
                  <a:srgbClr val="212224"/>
                </a:solidFill>
                <a:effectLst/>
                <a:latin typeface="Arial" panose="020B0604020202020204" pitchFamily="34" charset="0"/>
              </a:rPr>
              <a:t>TEK KATMANLI ALGILAYICI</a:t>
            </a:r>
            <a:endParaRPr lang="tr-TR" dirty="0"/>
          </a:p>
        </p:txBody>
      </p:sp>
      <p:pic>
        <p:nvPicPr>
          <p:cNvPr id="2050" name="Picture 2" descr="ŞU KARA KUTUYU AÇALIM: Yapay Sinir Ağları | by Ayyüce Kızrak | Medium">
            <a:extLst>
              <a:ext uri="{FF2B5EF4-FFF2-40B4-BE49-F238E27FC236}">
                <a16:creationId xmlns:a16="http://schemas.microsoft.com/office/drawing/2014/main" id="{6779E6D4-9381-42A7-8CE7-6552E3368E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37" y="1601574"/>
            <a:ext cx="5405252" cy="30840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Picture 2" descr="Target Prediction using Single-layer Perceptron and Multilayer Perceptron |  by Ananda Hange | Nerd For Tech | Apr, 2021 | Medium">
            <a:extLst>
              <a:ext uri="{FF2B5EF4-FFF2-40B4-BE49-F238E27FC236}">
                <a16:creationId xmlns:a16="http://schemas.microsoft.com/office/drawing/2014/main" id="{023A34E4-8FC6-4C65-B1B6-34603B7E4D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8998" y="1601574"/>
            <a:ext cx="4827110" cy="24173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6" name="Resim 5">
            <a:extLst>
              <a:ext uri="{FF2B5EF4-FFF2-40B4-BE49-F238E27FC236}">
                <a16:creationId xmlns:a16="http://schemas.microsoft.com/office/drawing/2014/main" id="{4F0AB109-0416-43B7-82FF-1D8F83622E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731" y="4624645"/>
            <a:ext cx="3620664" cy="21723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2" descr="Artificial Neural Network Structure">
            <a:extLst>
              <a:ext uri="{FF2B5EF4-FFF2-40B4-BE49-F238E27FC236}">
                <a16:creationId xmlns:a16="http://schemas.microsoft.com/office/drawing/2014/main" id="{DA163748-01F5-4C93-B51A-9FCDF19E48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7624" y="3994014"/>
            <a:ext cx="3449857" cy="28096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996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40E75F6-2D84-4339-8469-ABCD3DD20142}"/>
              </a:ext>
            </a:extLst>
          </p:cNvPr>
          <p:cNvSpPr>
            <a:spLocks noGrp="1"/>
          </p:cNvSpPr>
          <p:nvPr>
            <p:ph type="title"/>
          </p:nvPr>
        </p:nvSpPr>
        <p:spPr/>
        <p:txBody>
          <a:bodyPr/>
          <a:lstStyle/>
          <a:p>
            <a:r>
              <a:rPr lang="tr-TR" b="0" i="0" dirty="0" err="1">
                <a:solidFill>
                  <a:srgbClr val="212224"/>
                </a:solidFill>
                <a:effectLst/>
                <a:latin typeface="Arial" panose="020B0604020202020204" pitchFamily="34" charset="0"/>
              </a:rPr>
              <a:t>SIngle</a:t>
            </a:r>
            <a:r>
              <a:rPr lang="tr-TR" b="0" i="0" dirty="0">
                <a:solidFill>
                  <a:srgbClr val="212224"/>
                </a:solidFill>
                <a:effectLst/>
                <a:latin typeface="Arial" panose="020B0604020202020204" pitchFamily="34" charset="0"/>
              </a:rPr>
              <a:t> </a:t>
            </a:r>
            <a:r>
              <a:rPr lang="tr-TR" b="0" i="0" dirty="0" err="1">
                <a:solidFill>
                  <a:srgbClr val="212224"/>
                </a:solidFill>
                <a:effectLst/>
                <a:latin typeface="Arial" panose="020B0604020202020204" pitchFamily="34" charset="0"/>
              </a:rPr>
              <a:t>Layer</a:t>
            </a:r>
            <a:r>
              <a:rPr lang="tr-TR" b="0" i="0" dirty="0">
                <a:solidFill>
                  <a:srgbClr val="212224"/>
                </a:solidFill>
                <a:effectLst/>
                <a:latin typeface="Arial" panose="020B0604020202020204" pitchFamily="34" charset="0"/>
              </a:rPr>
              <a:t> </a:t>
            </a:r>
            <a:r>
              <a:rPr lang="tr-TR" b="0" i="0" dirty="0" err="1">
                <a:solidFill>
                  <a:srgbClr val="212224"/>
                </a:solidFill>
                <a:effectLst/>
                <a:latin typeface="Arial" panose="020B0604020202020204" pitchFamily="34" charset="0"/>
              </a:rPr>
              <a:t>Perceptron</a:t>
            </a:r>
            <a:br>
              <a:rPr lang="tr-TR" b="0" i="0" dirty="0">
                <a:solidFill>
                  <a:srgbClr val="212224"/>
                </a:solidFill>
                <a:effectLst/>
                <a:latin typeface="Arial" panose="020B0604020202020204" pitchFamily="34" charset="0"/>
              </a:rPr>
            </a:br>
            <a:r>
              <a:rPr lang="tr-TR" b="0" i="0" dirty="0">
                <a:solidFill>
                  <a:srgbClr val="212224"/>
                </a:solidFill>
                <a:effectLst/>
                <a:latin typeface="Arial" panose="020B0604020202020204" pitchFamily="34" charset="0"/>
              </a:rPr>
              <a:t>TEK KATMANLI ALGILAYICI</a:t>
            </a:r>
            <a:endParaRPr lang="tr-TR" dirty="0"/>
          </a:p>
        </p:txBody>
      </p:sp>
      <p:pic>
        <p:nvPicPr>
          <p:cNvPr id="3074" name="Picture 2">
            <a:extLst>
              <a:ext uri="{FF2B5EF4-FFF2-40B4-BE49-F238E27FC236}">
                <a16:creationId xmlns:a16="http://schemas.microsoft.com/office/drawing/2014/main" id="{CE98DCD3-4DB7-4E64-9649-99A40405A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904" y="4208759"/>
            <a:ext cx="5725055" cy="22900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 name="Picture 2" descr="Target Prediction using Single-layer Perceptron and Multilayer Perceptron |  by Ananda Hange | Nerd For Tech | Apr, 2021 | Medium">
            <a:extLst>
              <a:ext uri="{FF2B5EF4-FFF2-40B4-BE49-F238E27FC236}">
                <a16:creationId xmlns:a16="http://schemas.microsoft.com/office/drawing/2014/main" id="{B3B1D727-75EA-435C-BBC0-E506014915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1404" y="1665451"/>
            <a:ext cx="4827110" cy="24173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E131073-F58C-49C3-97CA-72E0659747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3754" y="4205301"/>
            <a:ext cx="5449711" cy="22934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5076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863199-784F-42B1-A989-D2F24F7998EA}"/>
              </a:ext>
            </a:extLst>
          </p:cNvPr>
          <p:cNvSpPr>
            <a:spLocks noGrp="1"/>
          </p:cNvSpPr>
          <p:nvPr>
            <p:ph type="title"/>
          </p:nvPr>
        </p:nvSpPr>
        <p:spPr>
          <a:xfrm>
            <a:off x="1202919" y="284176"/>
            <a:ext cx="9784080" cy="1508760"/>
          </a:xfrm>
        </p:spPr>
        <p:txBody>
          <a:bodyPr>
            <a:normAutofit/>
          </a:bodyPr>
          <a:lstStyle/>
          <a:p>
            <a:r>
              <a:rPr lang="tr-TR" b="0" i="0" err="1">
                <a:effectLst/>
                <a:latin typeface="Arial" panose="020B0604020202020204" pitchFamily="34" charset="0"/>
              </a:rPr>
              <a:t>SIngle</a:t>
            </a:r>
            <a:r>
              <a:rPr lang="tr-TR" b="0" i="0">
                <a:effectLst/>
                <a:latin typeface="Arial" panose="020B0604020202020204" pitchFamily="34" charset="0"/>
              </a:rPr>
              <a:t> </a:t>
            </a:r>
            <a:r>
              <a:rPr lang="tr-TR" b="0" i="0" err="1">
                <a:effectLst/>
                <a:latin typeface="Arial" panose="020B0604020202020204" pitchFamily="34" charset="0"/>
              </a:rPr>
              <a:t>Layer</a:t>
            </a:r>
            <a:r>
              <a:rPr lang="tr-TR" b="0" i="0">
                <a:effectLst/>
                <a:latin typeface="Arial" panose="020B0604020202020204" pitchFamily="34" charset="0"/>
              </a:rPr>
              <a:t> </a:t>
            </a:r>
            <a:r>
              <a:rPr lang="tr-TR" b="0" i="0" err="1">
                <a:effectLst/>
                <a:latin typeface="Arial" panose="020B0604020202020204" pitchFamily="34" charset="0"/>
              </a:rPr>
              <a:t>Perceptron</a:t>
            </a:r>
            <a:br>
              <a:rPr lang="tr-TR" b="0" i="0">
                <a:effectLst/>
                <a:latin typeface="Arial" panose="020B0604020202020204" pitchFamily="34" charset="0"/>
              </a:rPr>
            </a:br>
            <a:r>
              <a:rPr lang="tr-TR" b="0" i="0">
                <a:effectLst/>
                <a:latin typeface="Arial" panose="020B0604020202020204" pitchFamily="34" charset="0"/>
              </a:rPr>
              <a:t>TEK KATMANLI ALGILAYICI</a:t>
            </a:r>
            <a:endParaRPr lang="tr-TR" dirty="0"/>
          </a:p>
        </p:txBody>
      </p:sp>
      <p:pic>
        <p:nvPicPr>
          <p:cNvPr id="4" name="Picture 2">
            <a:extLst>
              <a:ext uri="{FF2B5EF4-FFF2-40B4-BE49-F238E27FC236}">
                <a16:creationId xmlns:a16="http://schemas.microsoft.com/office/drawing/2014/main" id="{D82ECBDD-DFBC-4F14-A9E7-3BA6DA1358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7808" y="2905401"/>
            <a:ext cx="6130569" cy="2452227"/>
          </a:xfrm>
          <a:prstGeom prst="rect">
            <a:avLst/>
          </a:prstGeom>
          <a:extLst>
            <a:ext uri="{909E8E84-426E-40DD-AFC4-6F175D3DCCD1}">
              <a14:hiddenFill xmlns:a14="http://schemas.microsoft.com/office/drawing/2010/main">
                <a:solidFill>
                  <a:srgbClr val="FFFFFF"/>
                </a:solidFill>
              </a14:hiddenFill>
            </a:ext>
          </a:extLst>
        </p:spPr>
      </p:pic>
      <p:sp>
        <p:nvSpPr>
          <p:cNvPr id="3" name="İçerik Yer Tutucusu 2">
            <a:extLst>
              <a:ext uri="{FF2B5EF4-FFF2-40B4-BE49-F238E27FC236}">
                <a16:creationId xmlns:a16="http://schemas.microsoft.com/office/drawing/2014/main" id="{CFC69A46-C790-49E6-B69D-7DF12460AE63}"/>
              </a:ext>
            </a:extLst>
          </p:cNvPr>
          <p:cNvSpPr>
            <a:spLocks noGrp="1"/>
          </p:cNvSpPr>
          <p:nvPr>
            <p:ph idx="1"/>
          </p:nvPr>
        </p:nvSpPr>
        <p:spPr>
          <a:xfrm>
            <a:off x="6885993" y="2045110"/>
            <a:ext cx="4963886" cy="4172810"/>
          </a:xfrm>
        </p:spPr>
        <p:txBody>
          <a:bodyPr>
            <a:normAutofit/>
          </a:bodyPr>
          <a:lstStyle/>
          <a:p>
            <a:r>
              <a:rPr lang="tr-TR" sz="1800" dirty="0"/>
              <a:t>Sinir hücrelerinin (nöronların) matematiksel modellenmesi ilk olarak 1943 yılında </a:t>
            </a:r>
            <a:r>
              <a:rPr lang="tr-TR" sz="1800" dirty="0" err="1"/>
              <a:t>Warren</a:t>
            </a:r>
            <a:r>
              <a:rPr lang="tr-TR" sz="1800" dirty="0"/>
              <a:t> McCulloch ve </a:t>
            </a:r>
            <a:r>
              <a:rPr lang="tr-TR" sz="1800" dirty="0" err="1"/>
              <a:t>Walter</a:t>
            </a:r>
            <a:r>
              <a:rPr lang="tr-TR" sz="1800" dirty="0"/>
              <a:t> </a:t>
            </a:r>
            <a:r>
              <a:rPr lang="tr-TR" sz="1800" dirty="0" err="1"/>
              <a:t>Pitts</a:t>
            </a:r>
            <a:r>
              <a:rPr lang="tr-TR" sz="1800" dirty="0"/>
              <a:t> tarafından gerçekleştirilmiş olup "McCulloch–</a:t>
            </a:r>
            <a:r>
              <a:rPr lang="tr-TR" sz="1800" dirty="0" err="1"/>
              <a:t>Pitts</a:t>
            </a:r>
            <a:r>
              <a:rPr lang="tr-TR" sz="1800" dirty="0"/>
              <a:t> (MCP) </a:t>
            </a:r>
            <a:r>
              <a:rPr lang="tr-TR" sz="1800" dirty="0" err="1"/>
              <a:t>neuron</a:t>
            </a:r>
            <a:r>
              <a:rPr lang="tr-TR" sz="1800" dirty="0"/>
              <a:t>", "</a:t>
            </a:r>
            <a:r>
              <a:rPr lang="tr-TR" sz="1800" dirty="0" err="1"/>
              <a:t>Binary</a:t>
            </a:r>
            <a:r>
              <a:rPr lang="tr-TR" sz="1800" dirty="0"/>
              <a:t> </a:t>
            </a:r>
            <a:r>
              <a:rPr lang="tr-TR" sz="1800" dirty="0" err="1"/>
              <a:t>Threshold</a:t>
            </a:r>
            <a:r>
              <a:rPr lang="tr-TR" sz="1800" dirty="0"/>
              <a:t> </a:t>
            </a:r>
            <a:r>
              <a:rPr lang="tr-TR" sz="1800" dirty="0" err="1"/>
              <a:t>Unit</a:t>
            </a:r>
            <a:r>
              <a:rPr lang="tr-TR" sz="1800" dirty="0"/>
              <a:t>", "</a:t>
            </a:r>
            <a:r>
              <a:rPr lang="tr-TR" sz="1800" dirty="0" err="1"/>
              <a:t>Threshold</a:t>
            </a:r>
            <a:r>
              <a:rPr lang="tr-TR" sz="1800" dirty="0"/>
              <a:t> </a:t>
            </a:r>
            <a:r>
              <a:rPr lang="tr-TR" sz="1800" dirty="0" err="1"/>
              <a:t>Logic</a:t>
            </a:r>
            <a:r>
              <a:rPr lang="tr-TR" sz="1800" dirty="0"/>
              <a:t> </a:t>
            </a:r>
            <a:r>
              <a:rPr lang="tr-TR" sz="1800" dirty="0" err="1"/>
              <a:t>Unit</a:t>
            </a:r>
            <a:r>
              <a:rPr lang="tr-TR" sz="1800" dirty="0"/>
              <a:t> (TLU)" veya "</a:t>
            </a:r>
            <a:r>
              <a:rPr lang="tr-TR" sz="1800" dirty="0" err="1"/>
              <a:t>Linear</a:t>
            </a:r>
            <a:r>
              <a:rPr lang="tr-TR" sz="1800" dirty="0"/>
              <a:t> </a:t>
            </a:r>
            <a:r>
              <a:rPr lang="tr-TR" sz="1800" dirty="0" err="1"/>
              <a:t>Threshold</a:t>
            </a:r>
            <a:r>
              <a:rPr lang="tr-TR" sz="1800" dirty="0"/>
              <a:t> </a:t>
            </a:r>
            <a:r>
              <a:rPr lang="tr-TR" sz="1800" dirty="0" err="1"/>
              <a:t>Unit</a:t>
            </a:r>
            <a:r>
              <a:rPr lang="tr-TR" sz="1800" dirty="0"/>
              <a:t>" olarak adlandırılabilmektedir. </a:t>
            </a:r>
          </a:p>
          <a:p>
            <a:r>
              <a:rPr lang="tr-TR" sz="1800" dirty="0"/>
              <a:t>TLU nöron modelinde; </a:t>
            </a:r>
          </a:p>
          <a:p>
            <a:pPr lvl="1"/>
            <a:r>
              <a:rPr lang="tr-TR" sz="1600" dirty="0"/>
              <a:t>n adet giriş değeri{x1,x2,x3,...,</a:t>
            </a:r>
            <a:r>
              <a:rPr lang="tr-TR" sz="1600" dirty="0" err="1"/>
              <a:t>xn</a:t>
            </a:r>
            <a:r>
              <a:rPr lang="tr-TR" sz="1600" dirty="0"/>
              <a:t>}, </a:t>
            </a:r>
          </a:p>
          <a:p>
            <a:pPr lvl="1"/>
            <a:r>
              <a:rPr lang="tr-TR" sz="1600" dirty="0"/>
              <a:t>n adet ağırlık değeri {w1,w2,w3,...,</a:t>
            </a:r>
            <a:r>
              <a:rPr lang="tr-TR" sz="1600" dirty="0" err="1"/>
              <a:t>wn</a:t>
            </a:r>
            <a:r>
              <a:rPr lang="tr-TR" sz="1600" dirty="0"/>
              <a:t>}, </a:t>
            </a:r>
          </a:p>
          <a:p>
            <a:pPr lvl="1"/>
            <a:r>
              <a:rPr lang="tr-TR" sz="1600" dirty="0"/>
              <a:t>1 adet eşik değeri (T) ve </a:t>
            </a:r>
          </a:p>
          <a:p>
            <a:pPr lvl="1"/>
            <a:r>
              <a:rPr lang="tr-TR" sz="1600" dirty="0"/>
              <a:t>1 adet çıkış değeri (y)</a:t>
            </a:r>
          </a:p>
          <a:p>
            <a:r>
              <a:rPr lang="tr-TR" sz="1800" dirty="0"/>
              <a:t> yer almaktadır.</a:t>
            </a:r>
          </a:p>
        </p:txBody>
      </p:sp>
      <p:sp>
        <p:nvSpPr>
          <p:cNvPr id="6" name="Metin kutusu 5">
            <a:extLst>
              <a:ext uri="{FF2B5EF4-FFF2-40B4-BE49-F238E27FC236}">
                <a16:creationId xmlns:a16="http://schemas.microsoft.com/office/drawing/2014/main" id="{1BB04354-5F4B-429C-91A6-2A7176C25618}"/>
              </a:ext>
            </a:extLst>
          </p:cNvPr>
          <p:cNvSpPr txBox="1"/>
          <p:nvPr/>
        </p:nvSpPr>
        <p:spPr>
          <a:xfrm>
            <a:off x="437808" y="6443019"/>
            <a:ext cx="9784079" cy="261610"/>
          </a:xfrm>
          <a:prstGeom prst="rect">
            <a:avLst/>
          </a:prstGeom>
          <a:noFill/>
        </p:spPr>
        <p:txBody>
          <a:bodyPr wrap="square">
            <a:spAutoFit/>
          </a:bodyPr>
          <a:lstStyle/>
          <a:p>
            <a:r>
              <a:rPr lang="tr-TR" sz="1100" dirty="0"/>
              <a:t>https://www.linkedin.com/pulse/yapay-sinir-a%C4%9Flar%C4%B1-ve-tek-katmanl%C4%B1-a%C4%9Flarda-%C3%B6%C4%9Frenme-tanju-do%C4%9Fan/</a:t>
            </a:r>
          </a:p>
        </p:txBody>
      </p:sp>
    </p:spTree>
    <p:extLst>
      <p:ext uri="{BB962C8B-B14F-4D97-AF65-F5344CB8AC3E}">
        <p14:creationId xmlns:p14="http://schemas.microsoft.com/office/powerpoint/2010/main" val="1917066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863199-784F-42B1-A989-D2F24F7998EA}"/>
              </a:ext>
            </a:extLst>
          </p:cNvPr>
          <p:cNvSpPr>
            <a:spLocks noGrp="1"/>
          </p:cNvSpPr>
          <p:nvPr>
            <p:ph type="title"/>
          </p:nvPr>
        </p:nvSpPr>
        <p:spPr>
          <a:xfrm>
            <a:off x="1202919" y="284176"/>
            <a:ext cx="9784080" cy="1508760"/>
          </a:xfrm>
        </p:spPr>
        <p:txBody>
          <a:bodyPr>
            <a:normAutofit/>
          </a:bodyPr>
          <a:lstStyle/>
          <a:p>
            <a:r>
              <a:rPr lang="tr-TR" b="0" i="0" err="1">
                <a:effectLst/>
                <a:latin typeface="Arial" panose="020B0604020202020204" pitchFamily="34" charset="0"/>
              </a:rPr>
              <a:t>SIngle</a:t>
            </a:r>
            <a:r>
              <a:rPr lang="tr-TR" b="0" i="0">
                <a:effectLst/>
                <a:latin typeface="Arial" panose="020B0604020202020204" pitchFamily="34" charset="0"/>
              </a:rPr>
              <a:t> </a:t>
            </a:r>
            <a:r>
              <a:rPr lang="tr-TR" b="0" i="0" err="1">
                <a:effectLst/>
                <a:latin typeface="Arial" panose="020B0604020202020204" pitchFamily="34" charset="0"/>
              </a:rPr>
              <a:t>Layer</a:t>
            </a:r>
            <a:r>
              <a:rPr lang="tr-TR" b="0" i="0">
                <a:effectLst/>
                <a:latin typeface="Arial" panose="020B0604020202020204" pitchFamily="34" charset="0"/>
              </a:rPr>
              <a:t> </a:t>
            </a:r>
            <a:r>
              <a:rPr lang="tr-TR" b="0" i="0" err="1">
                <a:effectLst/>
                <a:latin typeface="Arial" panose="020B0604020202020204" pitchFamily="34" charset="0"/>
              </a:rPr>
              <a:t>Perceptron</a:t>
            </a:r>
            <a:br>
              <a:rPr lang="tr-TR" b="0" i="0">
                <a:effectLst/>
                <a:latin typeface="Arial" panose="020B0604020202020204" pitchFamily="34" charset="0"/>
              </a:rPr>
            </a:br>
            <a:r>
              <a:rPr lang="tr-TR" b="0" i="0">
                <a:effectLst/>
                <a:latin typeface="Arial" panose="020B0604020202020204" pitchFamily="34" charset="0"/>
              </a:rPr>
              <a:t>TEK KATMANLI ALGILAYICI</a:t>
            </a:r>
            <a:endParaRPr lang="tr-TR" dirty="0"/>
          </a:p>
        </p:txBody>
      </p:sp>
      <p:pic>
        <p:nvPicPr>
          <p:cNvPr id="4" name="Picture 2">
            <a:extLst>
              <a:ext uri="{FF2B5EF4-FFF2-40B4-BE49-F238E27FC236}">
                <a16:creationId xmlns:a16="http://schemas.microsoft.com/office/drawing/2014/main" id="{D82ECBDD-DFBC-4F14-A9E7-3BA6DA1358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7808" y="2905401"/>
            <a:ext cx="6130569" cy="2452227"/>
          </a:xfrm>
          <a:prstGeom prst="rect">
            <a:avLst/>
          </a:prstGeom>
          <a:extLst>
            <a:ext uri="{909E8E84-426E-40DD-AFC4-6F175D3DCCD1}">
              <a14:hiddenFill xmlns:a14="http://schemas.microsoft.com/office/drawing/2010/main">
                <a:solidFill>
                  <a:srgbClr val="FFFFFF"/>
                </a:solidFill>
              </a14:hiddenFill>
            </a:ext>
          </a:extLst>
        </p:spPr>
      </p:pic>
      <p:sp>
        <p:nvSpPr>
          <p:cNvPr id="3" name="İçerik Yer Tutucusu 2">
            <a:extLst>
              <a:ext uri="{FF2B5EF4-FFF2-40B4-BE49-F238E27FC236}">
                <a16:creationId xmlns:a16="http://schemas.microsoft.com/office/drawing/2014/main" id="{CFC69A46-C790-49E6-B69D-7DF12460AE63}"/>
              </a:ext>
            </a:extLst>
          </p:cNvPr>
          <p:cNvSpPr>
            <a:spLocks noGrp="1"/>
          </p:cNvSpPr>
          <p:nvPr>
            <p:ph idx="1"/>
          </p:nvPr>
        </p:nvSpPr>
        <p:spPr>
          <a:xfrm>
            <a:off x="6885993" y="2045110"/>
            <a:ext cx="4963886" cy="4172810"/>
          </a:xfrm>
        </p:spPr>
        <p:txBody>
          <a:bodyPr>
            <a:normAutofit/>
          </a:bodyPr>
          <a:lstStyle/>
          <a:p>
            <a:r>
              <a:rPr lang="tr-TR" sz="1800" dirty="0"/>
              <a:t>McCulloch–</a:t>
            </a:r>
            <a:r>
              <a:rPr lang="tr-TR" sz="1800" dirty="0" err="1"/>
              <a:t>Pitts</a:t>
            </a:r>
            <a:r>
              <a:rPr lang="tr-TR" sz="1800" dirty="0"/>
              <a:t> nöron modelinde; giriş değerleri ağırlık değerleriyle çarpıldıktan sonra toplanıyordu. </a:t>
            </a:r>
          </a:p>
          <a:p>
            <a:r>
              <a:rPr lang="tr-TR" sz="1800" dirty="0"/>
              <a:t>Elde edilen toplam değeri; eşik değerinden büyükse çıkış değeri "1", eşik değerinden küçük veya eşitse çıkış değeri "0" atanıyordu. </a:t>
            </a:r>
          </a:p>
          <a:p>
            <a:r>
              <a:rPr lang="tr-TR" sz="1800" dirty="0"/>
              <a:t>Ağırlık ve eşik değerleri sabitti, öğrenme kuralı uygulanmıyordu. </a:t>
            </a:r>
          </a:p>
          <a:p>
            <a:r>
              <a:rPr lang="tr-TR" sz="1800" dirty="0"/>
              <a:t>McCulloch–</a:t>
            </a:r>
            <a:r>
              <a:rPr lang="tr-TR" sz="1800" dirty="0" err="1"/>
              <a:t>Pitts</a:t>
            </a:r>
            <a:r>
              <a:rPr lang="tr-TR" sz="1800" dirty="0"/>
              <a:t> nöron modeli pek çok açıdan biyolojik nörona benzetilmeye çalışılsa da biyolojik nöronun davranışlarını tam olarak gerçekleştirememiştir. </a:t>
            </a:r>
          </a:p>
        </p:txBody>
      </p:sp>
    </p:spTree>
    <p:extLst>
      <p:ext uri="{BB962C8B-B14F-4D97-AF65-F5344CB8AC3E}">
        <p14:creationId xmlns:p14="http://schemas.microsoft.com/office/powerpoint/2010/main" val="2798290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863199-784F-42B1-A989-D2F24F7998EA}"/>
              </a:ext>
            </a:extLst>
          </p:cNvPr>
          <p:cNvSpPr>
            <a:spLocks noGrp="1"/>
          </p:cNvSpPr>
          <p:nvPr>
            <p:ph type="title"/>
          </p:nvPr>
        </p:nvSpPr>
        <p:spPr>
          <a:xfrm>
            <a:off x="1202919" y="284176"/>
            <a:ext cx="9784080" cy="1508760"/>
          </a:xfrm>
        </p:spPr>
        <p:txBody>
          <a:bodyPr>
            <a:normAutofit/>
          </a:bodyPr>
          <a:lstStyle/>
          <a:p>
            <a:r>
              <a:rPr lang="tr-TR" b="0" i="0" err="1">
                <a:effectLst/>
                <a:latin typeface="Arial" panose="020B0604020202020204" pitchFamily="34" charset="0"/>
              </a:rPr>
              <a:t>SIngle</a:t>
            </a:r>
            <a:r>
              <a:rPr lang="tr-TR" b="0" i="0">
                <a:effectLst/>
                <a:latin typeface="Arial" panose="020B0604020202020204" pitchFamily="34" charset="0"/>
              </a:rPr>
              <a:t> </a:t>
            </a:r>
            <a:r>
              <a:rPr lang="tr-TR" b="0" i="0" err="1">
                <a:effectLst/>
                <a:latin typeface="Arial" panose="020B0604020202020204" pitchFamily="34" charset="0"/>
              </a:rPr>
              <a:t>Layer</a:t>
            </a:r>
            <a:r>
              <a:rPr lang="tr-TR" b="0" i="0">
                <a:effectLst/>
                <a:latin typeface="Arial" panose="020B0604020202020204" pitchFamily="34" charset="0"/>
              </a:rPr>
              <a:t> </a:t>
            </a:r>
            <a:r>
              <a:rPr lang="tr-TR" b="0" i="0" err="1">
                <a:effectLst/>
                <a:latin typeface="Arial" panose="020B0604020202020204" pitchFamily="34" charset="0"/>
              </a:rPr>
              <a:t>Perceptron</a:t>
            </a:r>
            <a:br>
              <a:rPr lang="tr-TR" b="0" i="0">
                <a:effectLst/>
                <a:latin typeface="Arial" panose="020B0604020202020204" pitchFamily="34" charset="0"/>
              </a:rPr>
            </a:br>
            <a:r>
              <a:rPr lang="tr-TR" b="0" i="0">
                <a:effectLst/>
                <a:latin typeface="Arial" panose="020B0604020202020204" pitchFamily="34" charset="0"/>
              </a:rPr>
              <a:t>TEK KATMANLI ALGILAYICI</a:t>
            </a:r>
            <a:endParaRPr lang="tr-TR" dirty="0"/>
          </a:p>
        </p:txBody>
      </p:sp>
      <p:pic>
        <p:nvPicPr>
          <p:cNvPr id="4" name="Picture 2">
            <a:extLst>
              <a:ext uri="{FF2B5EF4-FFF2-40B4-BE49-F238E27FC236}">
                <a16:creationId xmlns:a16="http://schemas.microsoft.com/office/drawing/2014/main" id="{D82ECBDD-DFBC-4F14-A9E7-3BA6DA1358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7808" y="2905401"/>
            <a:ext cx="6130569" cy="2452227"/>
          </a:xfrm>
          <a:prstGeom prst="rect">
            <a:avLst/>
          </a:prstGeom>
          <a:extLst>
            <a:ext uri="{909E8E84-426E-40DD-AFC4-6F175D3DCCD1}">
              <a14:hiddenFill xmlns:a14="http://schemas.microsoft.com/office/drawing/2010/main">
                <a:solidFill>
                  <a:srgbClr val="FFFFFF"/>
                </a:solidFill>
              </a14:hiddenFill>
            </a:ext>
          </a:extLst>
        </p:spPr>
      </p:pic>
      <p:sp>
        <p:nvSpPr>
          <p:cNvPr id="3" name="İçerik Yer Tutucusu 2">
            <a:extLst>
              <a:ext uri="{FF2B5EF4-FFF2-40B4-BE49-F238E27FC236}">
                <a16:creationId xmlns:a16="http://schemas.microsoft.com/office/drawing/2014/main" id="{CFC69A46-C790-49E6-B69D-7DF12460AE63}"/>
              </a:ext>
            </a:extLst>
          </p:cNvPr>
          <p:cNvSpPr>
            <a:spLocks noGrp="1"/>
          </p:cNvSpPr>
          <p:nvPr>
            <p:ph idx="1"/>
          </p:nvPr>
        </p:nvSpPr>
        <p:spPr>
          <a:xfrm>
            <a:off x="6885993" y="2045110"/>
            <a:ext cx="4963886" cy="4172810"/>
          </a:xfrm>
        </p:spPr>
        <p:txBody>
          <a:bodyPr>
            <a:normAutofit/>
          </a:bodyPr>
          <a:lstStyle/>
          <a:p>
            <a:r>
              <a:rPr lang="tr-TR" sz="1800" dirty="0"/>
              <a:t>1958 yılında Frank </a:t>
            </a:r>
            <a:r>
              <a:rPr lang="tr-TR" sz="1800" dirty="0" err="1"/>
              <a:t>Rosenblatt</a:t>
            </a:r>
            <a:r>
              <a:rPr lang="tr-TR" sz="1800" dirty="0"/>
              <a:t>, McCulloch–</a:t>
            </a:r>
            <a:r>
              <a:rPr lang="tr-TR" sz="1800" dirty="0" err="1"/>
              <a:t>Pitts</a:t>
            </a:r>
            <a:r>
              <a:rPr lang="tr-TR" sz="1800" dirty="0"/>
              <a:t> modelini geliştirerek görüntü tanıma alanında kullanmak üzere "</a:t>
            </a:r>
            <a:r>
              <a:rPr lang="tr-TR" sz="1800" dirty="0" err="1"/>
              <a:t>Perceptron</a:t>
            </a:r>
            <a:r>
              <a:rPr lang="tr-TR" sz="1800" dirty="0"/>
              <a:t>" isimli modeli geliştirdi. </a:t>
            </a:r>
          </a:p>
          <a:p>
            <a:r>
              <a:rPr lang="tr-TR" sz="1800" dirty="0" err="1"/>
              <a:t>Perceptron</a:t>
            </a:r>
            <a:r>
              <a:rPr lang="tr-TR" sz="1800" dirty="0"/>
              <a:t> (Algılayıcı) modelinde; McCulloch–</a:t>
            </a:r>
            <a:r>
              <a:rPr lang="tr-TR" sz="1800" dirty="0" err="1"/>
              <a:t>Pitts</a:t>
            </a:r>
            <a:r>
              <a:rPr lang="tr-TR" sz="1800" dirty="0"/>
              <a:t> nöronuna öğrenme kuralı ilave edilmiştir. </a:t>
            </a:r>
          </a:p>
          <a:p>
            <a:r>
              <a:rPr lang="tr-TR" sz="1800" dirty="0"/>
              <a:t>Öğrenme kuralı, 1949 yılında Donald </a:t>
            </a:r>
            <a:r>
              <a:rPr lang="tr-TR" sz="1800" dirty="0" err="1"/>
              <a:t>Olding</a:t>
            </a:r>
            <a:r>
              <a:rPr lang="tr-TR" sz="1800" dirty="0"/>
              <a:t> </a:t>
            </a:r>
            <a:r>
              <a:rPr lang="tr-TR" sz="1800" dirty="0" err="1"/>
              <a:t>Hebb</a:t>
            </a:r>
            <a:r>
              <a:rPr lang="tr-TR" sz="1800" dirty="0"/>
              <a:t> tarafından yayımlanan "</a:t>
            </a:r>
            <a:r>
              <a:rPr lang="tr-TR" sz="1800" dirty="0" err="1"/>
              <a:t>The</a:t>
            </a:r>
            <a:r>
              <a:rPr lang="tr-TR" sz="1800" dirty="0"/>
              <a:t> </a:t>
            </a:r>
            <a:r>
              <a:rPr lang="tr-TR" sz="1800" dirty="0" err="1"/>
              <a:t>Organization</a:t>
            </a:r>
            <a:r>
              <a:rPr lang="tr-TR" sz="1800" dirty="0"/>
              <a:t> of </a:t>
            </a:r>
            <a:r>
              <a:rPr lang="tr-TR" sz="1800" dirty="0" err="1"/>
              <a:t>Behaviour</a:t>
            </a:r>
            <a:r>
              <a:rPr lang="tr-TR" sz="1800" dirty="0"/>
              <a:t>" isimli çalışmada ortaya konulan </a:t>
            </a:r>
            <a:r>
              <a:rPr lang="tr-TR" sz="1800" dirty="0" err="1"/>
              <a:t>Hebbian</a:t>
            </a:r>
            <a:r>
              <a:rPr lang="tr-TR" sz="1800" dirty="0"/>
              <a:t> öğrenme kuralını temel almaktadır.</a:t>
            </a:r>
          </a:p>
          <a:p>
            <a:r>
              <a:rPr lang="tr-TR" sz="1800" dirty="0"/>
              <a:t> Öğrenme kuralı kullanılarak ağrılık değerlerinin güncellenmesi sağlanmaktadır.</a:t>
            </a:r>
          </a:p>
        </p:txBody>
      </p:sp>
    </p:spTree>
    <p:extLst>
      <p:ext uri="{BB962C8B-B14F-4D97-AF65-F5344CB8AC3E}">
        <p14:creationId xmlns:p14="http://schemas.microsoft.com/office/powerpoint/2010/main" val="928815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863199-784F-42B1-A989-D2F24F7998EA}"/>
              </a:ext>
            </a:extLst>
          </p:cNvPr>
          <p:cNvSpPr>
            <a:spLocks noGrp="1"/>
          </p:cNvSpPr>
          <p:nvPr>
            <p:ph type="title"/>
          </p:nvPr>
        </p:nvSpPr>
        <p:spPr>
          <a:xfrm>
            <a:off x="1202919" y="284176"/>
            <a:ext cx="9784080" cy="1508760"/>
          </a:xfrm>
        </p:spPr>
        <p:txBody>
          <a:bodyPr>
            <a:normAutofit/>
          </a:bodyPr>
          <a:lstStyle/>
          <a:p>
            <a:r>
              <a:rPr lang="tr-TR" b="0" i="0" err="1">
                <a:effectLst/>
                <a:latin typeface="Arial" panose="020B0604020202020204" pitchFamily="34" charset="0"/>
              </a:rPr>
              <a:t>SIngle</a:t>
            </a:r>
            <a:r>
              <a:rPr lang="tr-TR" b="0" i="0">
                <a:effectLst/>
                <a:latin typeface="Arial" panose="020B0604020202020204" pitchFamily="34" charset="0"/>
              </a:rPr>
              <a:t> </a:t>
            </a:r>
            <a:r>
              <a:rPr lang="tr-TR" b="0" i="0" err="1">
                <a:effectLst/>
                <a:latin typeface="Arial" panose="020B0604020202020204" pitchFamily="34" charset="0"/>
              </a:rPr>
              <a:t>Layer</a:t>
            </a:r>
            <a:r>
              <a:rPr lang="tr-TR" b="0" i="0">
                <a:effectLst/>
                <a:latin typeface="Arial" panose="020B0604020202020204" pitchFamily="34" charset="0"/>
              </a:rPr>
              <a:t> </a:t>
            </a:r>
            <a:r>
              <a:rPr lang="tr-TR" b="0" i="0" err="1">
                <a:effectLst/>
                <a:latin typeface="Arial" panose="020B0604020202020204" pitchFamily="34" charset="0"/>
              </a:rPr>
              <a:t>Perceptron</a:t>
            </a:r>
            <a:br>
              <a:rPr lang="tr-TR" b="0" i="0">
                <a:effectLst/>
                <a:latin typeface="Arial" panose="020B0604020202020204" pitchFamily="34" charset="0"/>
              </a:rPr>
            </a:br>
            <a:r>
              <a:rPr lang="tr-TR" b="0" i="0">
                <a:effectLst/>
                <a:latin typeface="Arial" panose="020B0604020202020204" pitchFamily="34" charset="0"/>
              </a:rPr>
              <a:t>TEK KATMANLI ALGILAYICI</a:t>
            </a:r>
            <a:endParaRPr lang="tr-TR" dirty="0"/>
          </a:p>
        </p:txBody>
      </p:sp>
      <p:pic>
        <p:nvPicPr>
          <p:cNvPr id="4" name="Picture 2">
            <a:extLst>
              <a:ext uri="{FF2B5EF4-FFF2-40B4-BE49-F238E27FC236}">
                <a16:creationId xmlns:a16="http://schemas.microsoft.com/office/drawing/2014/main" id="{D82ECBDD-DFBC-4F14-A9E7-3BA6DA1358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7808" y="2905401"/>
            <a:ext cx="6130569" cy="2452227"/>
          </a:xfrm>
          <a:prstGeom prst="rect">
            <a:avLst/>
          </a:prstGeom>
          <a:extLst>
            <a:ext uri="{909E8E84-426E-40DD-AFC4-6F175D3DCCD1}">
              <a14:hiddenFill xmlns:a14="http://schemas.microsoft.com/office/drawing/2010/main">
                <a:solidFill>
                  <a:srgbClr val="FFFFFF"/>
                </a:solidFill>
              </a14:hiddenFill>
            </a:ext>
          </a:extLst>
        </p:spPr>
      </p:pic>
      <p:sp>
        <p:nvSpPr>
          <p:cNvPr id="3" name="İçerik Yer Tutucusu 2">
            <a:extLst>
              <a:ext uri="{FF2B5EF4-FFF2-40B4-BE49-F238E27FC236}">
                <a16:creationId xmlns:a16="http://schemas.microsoft.com/office/drawing/2014/main" id="{CFC69A46-C790-49E6-B69D-7DF12460AE63}"/>
              </a:ext>
            </a:extLst>
          </p:cNvPr>
          <p:cNvSpPr>
            <a:spLocks noGrp="1"/>
          </p:cNvSpPr>
          <p:nvPr>
            <p:ph idx="1"/>
          </p:nvPr>
        </p:nvSpPr>
        <p:spPr>
          <a:xfrm>
            <a:off x="6885993" y="2045110"/>
            <a:ext cx="4963886" cy="4630898"/>
          </a:xfrm>
        </p:spPr>
        <p:txBody>
          <a:bodyPr>
            <a:normAutofit lnSpcReduction="10000"/>
          </a:bodyPr>
          <a:lstStyle/>
          <a:p>
            <a:r>
              <a:rPr lang="tr-TR" sz="1800" dirty="0"/>
              <a:t>Yapay sinir hücresi modelinde; girişler, diğer sinir hücrelerinden veya dış ortamdan alınan değerleri veya sinyalleri temsil eder. </a:t>
            </a:r>
          </a:p>
          <a:p>
            <a:r>
              <a:rPr lang="tr-TR" sz="2800" dirty="0"/>
              <a:t>Girişler </a:t>
            </a:r>
            <a:r>
              <a:rPr lang="tr-TR" sz="1800" dirty="0"/>
              <a:t>aynı zamanda özellik (</a:t>
            </a:r>
            <a:r>
              <a:rPr lang="tr-TR" sz="1800" dirty="0" err="1"/>
              <a:t>feature</a:t>
            </a:r>
            <a:r>
              <a:rPr lang="tr-TR" sz="1800" dirty="0"/>
              <a:t>) olarak da adlandırılmaktadır.</a:t>
            </a:r>
          </a:p>
          <a:p>
            <a:r>
              <a:rPr lang="tr-TR" sz="1800" dirty="0"/>
              <a:t>Ağırlık değerleri, yapay sinir hücresi tarafından alınan girişlerin sinir hücresi üzerindeki etkisini belirleyen katsayılardır. </a:t>
            </a:r>
          </a:p>
          <a:p>
            <a:r>
              <a:rPr lang="tr-TR" sz="1800" dirty="0"/>
              <a:t>Her bir girişin kendine ait ayrı bir ağırlık değeri vardır. </a:t>
            </a:r>
          </a:p>
          <a:p>
            <a:r>
              <a:rPr lang="tr-TR" sz="1800" dirty="0"/>
              <a:t>Ağırlıkların büyük ya da küçük olması önemli veya önemsiz olduğu anlamına gelmez. </a:t>
            </a:r>
          </a:p>
          <a:p>
            <a:r>
              <a:rPr lang="tr-TR" sz="1800" dirty="0"/>
              <a:t>Pozitif ağırlık değerleri uyarıcı </a:t>
            </a:r>
            <a:r>
              <a:rPr lang="tr-TR" sz="1800" dirty="0" err="1"/>
              <a:t>sinapsları</a:t>
            </a:r>
            <a:r>
              <a:rPr lang="tr-TR" sz="1800" dirty="0"/>
              <a:t> (</a:t>
            </a:r>
            <a:r>
              <a:rPr lang="tr-TR" sz="1800" dirty="0" err="1"/>
              <a:t>excitatory</a:t>
            </a:r>
            <a:r>
              <a:rPr lang="tr-TR" sz="1800" dirty="0"/>
              <a:t> </a:t>
            </a:r>
            <a:r>
              <a:rPr lang="tr-TR" sz="1800" dirty="0" err="1"/>
              <a:t>synapses</a:t>
            </a:r>
            <a:r>
              <a:rPr lang="tr-TR" sz="1800" dirty="0"/>
              <a:t>), negatif ağırlık değerleriyse baskılayıcı </a:t>
            </a:r>
            <a:r>
              <a:rPr lang="tr-TR" sz="1800" dirty="0" err="1"/>
              <a:t>sinapsları</a:t>
            </a:r>
            <a:r>
              <a:rPr lang="tr-TR" sz="1800" dirty="0"/>
              <a:t> (</a:t>
            </a:r>
            <a:r>
              <a:rPr lang="tr-TR" sz="1800" dirty="0" err="1"/>
              <a:t>inhibitory</a:t>
            </a:r>
            <a:r>
              <a:rPr lang="tr-TR" sz="1800" dirty="0"/>
              <a:t> </a:t>
            </a:r>
            <a:r>
              <a:rPr lang="tr-TR" sz="1800" dirty="0" err="1"/>
              <a:t>synapses</a:t>
            </a:r>
            <a:r>
              <a:rPr lang="tr-TR" sz="1800" dirty="0"/>
              <a:t>) temsil etmektedir. </a:t>
            </a:r>
          </a:p>
        </p:txBody>
      </p:sp>
      <p:sp>
        <p:nvSpPr>
          <p:cNvPr id="5" name="Metin kutusu 4">
            <a:extLst>
              <a:ext uri="{FF2B5EF4-FFF2-40B4-BE49-F238E27FC236}">
                <a16:creationId xmlns:a16="http://schemas.microsoft.com/office/drawing/2014/main" id="{883A81BB-9506-4856-88D6-55A8F6239ED8}"/>
              </a:ext>
            </a:extLst>
          </p:cNvPr>
          <p:cNvSpPr txBox="1"/>
          <p:nvPr/>
        </p:nvSpPr>
        <p:spPr>
          <a:xfrm>
            <a:off x="594804" y="6312023"/>
            <a:ext cx="5941050" cy="369332"/>
          </a:xfrm>
          <a:prstGeom prst="rect">
            <a:avLst/>
          </a:prstGeom>
          <a:noFill/>
        </p:spPr>
        <p:txBody>
          <a:bodyPr wrap="none" rtlCol="0">
            <a:spAutoFit/>
          </a:bodyPr>
          <a:lstStyle/>
          <a:p>
            <a:r>
              <a:rPr lang="tr-TR" dirty="0">
                <a:solidFill>
                  <a:srgbClr val="FF0000"/>
                </a:solidFill>
              </a:rPr>
              <a:t>Ağırlığın büyük ya da küçük olması nasıl bir etkiye sahip olur?</a:t>
            </a:r>
          </a:p>
        </p:txBody>
      </p:sp>
    </p:spTree>
    <p:extLst>
      <p:ext uri="{BB962C8B-B14F-4D97-AF65-F5344CB8AC3E}">
        <p14:creationId xmlns:p14="http://schemas.microsoft.com/office/powerpoint/2010/main" val="4103284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863199-784F-42B1-A989-D2F24F7998EA}"/>
              </a:ext>
            </a:extLst>
          </p:cNvPr>
          <p:cNvSpPr>
            <a:spLocks noGrp="1"/>
          </p:cNvSpPr>
          <p:nvPr>
            <p:ph type="title"/>
          </p:nvPr>
        </p:nvSpPr>
        <p:spPr>
          <a:xfrm>
            <a:off x="1202919" y="284176"/>
            <a:ext cx="9784080" cy="1508760"/>
          </a:xfrm>
        </p:spPr>
        <p:txBody>
          <a:bodyPr>
            <a:normAutofit/>
          </a:bodyPr>
          <a:lstStyle/>
          <a:p>
            <a:r>
              <a:rPr lang="tr-TR" b="0" i="0" err="1">
                <a:effectLst/>
                <a:latin typeface="Arial" panose="020B0604020202020204" pitchFamily="34" charset="0"/>
              </a:rPr>
              <a:t>SIngle</a:t>
            </a:r>
            <a:r>
              <a:rPr lang="tr-TR" b="0" i="0">
                <a:effectLst/>
                <a:latin typeface="Arial" panose="020B0604020202020204" pitchFamily="34" charset="0"/>
              </a:rPr>
              <a:t> </a:t>
            </a:r>
            <a:r>
              <a:rPr lang="tr-TR" b="0" i="0" err="1">
                <a:effectLst/>
                <a:latin typeface="Arial" panose="020B0604020202020204" pitchFamily="34" charset="0"/>
              </a:rPr>
              <a:t>Layer</a:t>
            </a:r>
            <a:r>
              <a:rPr lang="tr-TR" b="0" i="0">
                <a:effectLst/>
                <a:latin typeface="Arial" panose="020B0604020202020204" pitchFamily="34" charset="0"/>
              </a:rPr>
              <a:t> </a:t>
            </a:r>
            <a:r>
              <a:rPr lang="tr-TR" b="0" i="0" err="1">
                <a:effectLst/>
                <a:latin typeface="Arial" panose="020B0604020202020204" pitchFamily="34" charset="0"/>
              </a:rPr>
              <a:t>Perceptron</a:t>
            </a:r>
            <a:br>
              <a:rPr lang="tr-TR" b="0" i="0">
                <a:effectLst/>
                <a:latin typeface="Arial" panose="020B0604020202020204" pitchFamily="34" charset="0"/>
              </a:rPr>
            </a:br>
            <a:r>
              <a:rPr lang="tr-TR" b="0" i="0">
                <a:effectLst/>
                <a:latin typeface="Arial" panose="020B0604020202020204" pitchFamily="34" charset="0"/>
              </a:rPr>
              <a:t>TEK KATMANLI ALGILAYICI</a:t>
            </a:r>
            <a:endParaRPr lang="tr-TR" dirty="0"/>
          </a:p>
        </p:txBody>
      </p:sp>
      <p:pic>
        <p:nvPicPr>
          <p:cNvPr id="4" name="Picture 2">
            <a:extLst>
              <a:ext uri="{FF2B5EF4-FFF2-40B4-BE49-F238E27FC236}">
                <a16:creationId xmlns:a16="http://schemas.microsoft.com/office/drawing/2014/main" id="{D82ECBDD-DFBC-4F14-A9E7-3BA6DA1358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7808" y="2905401"/>
            <a:ext cx="6130569" cy="2452227"/>
          </a:xfrm>
          <a:prstGeom prst="rect">
            <a:avLst/>
          </a:prstGeom>
          <a:extLst>
            <a:ext uri="{909E8E84-426E-40DD-AFC4-6F175D3DCCD1}">
              <a14:hiddenFill xmlns:a14="http://schemas.microsoft.com/office/drawing/2010/main">
                <a:solidFill>
                  <a:srgbClr val="FFFFFF"/>
                </a:solidFill>
              </a14:hiddenFill>
            </a:ext>
          </a:extLst>
        </p:spPr>
      </p:pic>
      <p:sp>
        <p:nvSpPr>
          <p:cNvPr id="3" name="İçerik Yer Tutucusu 2">
            <a:extLst>
              <a:ext uri="{FF2B5EF4-FFF2-40B4-BE49-F238E27FC236}">
                <a16:creationId xmlns:a16="http://schemas.microsoft.com/office/drawing/2014/main" id="{CFC69A46-C790-49E6-B69D-7DF12460AE63}"/>
              </a:ext>
            </a:extLst>
          </p:cNvPr>
          <p:cNvSpPr>
            <a:spLocks noGrp="1"/>
          </p:cNvSpPr>
          <p:nvPr>
            <p:ph idx="1"/>
          </p:nvPr>
        </p:nvSpPr>
        <p:spPr>
          <a:xfrm>
            <a:off x="6885993" y="2045110"/>
            <a:ext cx="4963886" cy="4630898"/>
          </a:xfrm>
        </p:spPr>
        <p:txBody>
          <a:bodyPr>
            <a:normAutofit/>
          </a:bodyPr>
          <a:lstStyle/>
          <a:p>
            <a:r>
              <a:rPr lang="tr-TR" sz="1800" dirty="0"/>
              <a:t>TLU nöronu, giriş değerleriyle ağırlık değerlerinin çarpımlarının toplamını hesaplayıp (v), işlev (aktivasyon) fonksiyonu aracılığıyla, toplama işleminin sonucunu eşik değeriyle (T) karşılaştırır. </a:t>
            </a:r>
          </a:p>
          <a:p>
            <a:r>
              <a:rPr lang="tr-TR" sz="1800" dirty="0" err="1"/>
              <a:t>Ağırlıklandırılmış</a:t>
            </a:r>
            <a:r>
              <a:rPr lang="tr-TR" sz="1800" dirty="0"/>
              <a:t> giriş değerlerinin toplamı eşik değerinden büyükse çıkış değeri "1", eşik değerinden küçükse çıkış değeri "0" olur.</a:t>
            </a:r>
          </a:p>
          <a:p>
            <a:r>
              <a:rPr lang="tr-TR" sz="1800" dirty="0"/>
              <a:t>Doğrusal eşik fonksiyonu çıkış sinyalinin değerinin ikili değer "1" veya "0" olmasını sağlamaktadır. </a:t>
            </a:r>
          </a:p>
          <a:p>
            <a:r>
              <a:rPr lang="tr-TR" sz="1800" dirty="0"/>
              <a:t>Genellikle sıfırdan farklı eşik değeri kullanmak uygun olur.</a:t>
            </a:r>
          </a:p>
        </p:txBody>
      </p:sp>
    </p:spTree>
    <p:extLst>
      <p:ext uri="{BB962C8B-B14F-4D97-AF65-F5344CB8AC3E}">
        <p14:creationId xmlns:p14="http://schemas.microsoft.com/office/powerpoint/2010/main" val="1751468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863199-784F-42B1-A989-D2F24F7998EA}"/>
              </a:ext>
            </a:extLst>
          </p:cNvPr>
          <p:cNvSpPr>
            <a:spLocks noGrp="1"/>
          </p:cNvSpPr>
          <p:nvPr>
            <p:ph type="title"/>
          </p:nvPr>
        </p:nvSpPr>
        <p:spPr>
          <a:xfrm>
            <a:off x="1202919" y="284176"/>
            <a:ext cx="9784080" cy="1508760"/>
          </a:xfrm>
        </p:spPr>
        <p:txBody>
          <a:bodyPr>
            <a:normAutofit/>
          </a:bodyPr>
          <a:lstStyle/>
          <a:p>
            <a:r>
              <a:rPr lang="tr-TR" b="0" i="0" err="1">
                <a:effectLst/>
                <a:latin typeface="Arial" panose="020B0604020202020204" pitchFamily="34" charset="0"/>
              </a:rPr>
              <a:t>SIngle</a:t>
            </a:r>
            <a:r>
              <a:rPr lang="tr-TR" b="0" i="0">
                <a:effectLst/>
                <a:latin typeface="Arial" panose="020B0604020202020204" pitchFamily="34" charset="0"/>
              </a:rPr>
              <a:t> </a:t>
            </a:r>
            <a:r>
              <a:rPr lang="tr-TR" b="0" i="0" err="1">
                <a:effectLst/>
                <a:latin typeface="Arial" panose="020B0604020202020204" pitchFamily="34" charset="0"/>
              </a:rPr>
              <a:t>Layer</a:t>
            </a:r>
            <a:r>
              <a:rPr lang="tr-TR" b="0" i="0">
                <a:effectLst/>
                <a:latin typeface="Arial" panose="020B0604020202020204" pitchFamily="34" charset="0"/>
              </a:rPr>
              <a:t> </a:t>
            </a:r>
            <a:r>
              <a:rPr lang="tr-TR" b="0" i="0" err="1">
                <a:effectLst/>
                <a:latin typeface="Arial" panose="020B0604020202020204" pitchFamily="34" charset="0"/>
              </a:rPr>
              <a:t>Perceptron</a:t>
            </a:r>
            <a:br>
              <a:rPr lang="tr-TR" b="0" i="0">
                <a:effectLst/>
                <a:latin typeface="Arial" panose="020B0604020202020204" pitchFamily="34" charset="0"/>
              </a:rPr>
            </a:br>
            <a:r>
              <a:rPr lang="tr-TR" b="0" i="0">
                <a:effectLst/>
                <a:latin typeface="Arial" panose="020B0604020202020204" pitchFamily="34" charset="0"/>
              </a:rPr>
              <a:t>TEK KATMANLI ALGILAYICI</a:t>
            </a:r>
            <a:endParaRPr lang="tr-TR" dirty="0"/>
          </a:p>
        </p:txBody>
      </p:sp>
      <p:sp>
        <p:nvSpPr>
          <p:cNvPr id="3" name="İçerik Yer Tutucusu 2">
            <a:extLst>
              <a:ext uri="{FF2B5EF4-FFF2-40B4-BE49-F238E27FC236}">
                <a16:creationId xmlns:a16="http://schemas.microsoft.com/office/drawing/2014/main" id="{CFC69A46-C790-49E6-B69D-7DF12460AE63}"/>
              </a:ext>
            </a:extLst>
          </p:cNvPr>
          <p:cNvSpPr>
            <a:spLocks noGrp="1"/>
          </p:cNvSpPr>
          <p:nvPr>
            <p:ph idx="1"/>
          </p:nvPr>
        </p:nvSpPr>
        <p:spPr>
          <a:xfrm>
            <a:off x="6885993" y="2045110"/>
            <a:ext cx="4963886" cy="4630898"/>
          </a:xfrm>
        </p:spPr>
        <p:txBody>
          <a:bodyPr>
            <a:normAutofit/>
          </a:bodyPr>
          <a:lstStyle/>
          <a:p>
            <a:r>
              <a:rPr lang="tr-TR" sz="1800" dirty="0"/>
              <a:t>1959 yılında Bernard </a:t>
            </a:r>
            <a:r>
              <a:rPr lang="tr-TR" sz="1800" dirty="0" err="1"/>
              <a:t>Widrow</a:t>
            </a:r>
            <a:r>
              <a:rPr lang="tr-TR" sz="1800" dirty="0"/>
              <a:t> ve </a:t>
            </a:r>
            <a:r>
              <a:rPr lang="tr-TR" sz="1800" dirty="0" err="1"/>
              <a:t>Ted</a:t>
            </a:r>
            <a:r>
              <a:rPr lang="tr-TR" sz="1800" dirty="0"/>
              <a:t> </a:t>
            </a:r>
            <a:r>
              <a:rPr lang="tr-TR" sz="1800" dirty="0" err="1"/>
              <a:t>Hoff</a:t>
            </a:r>
            <a:r>
              <a:rPr lang="tr-TR" sz="1800" dirty="0"/>
              <a:t>, ADALINE (</a:t>
            </a:r>
            <a:r>
              <a:rPr lang="tr-TR" sz="1800" dirty="0" err="1"/>
              <a:t>Adaptive</a:t>
            </a:r>
            <a:r>
              <a:rPr lang="tr-TR" sz="1800" dirty="0"/>
              <a:t> </a:t>
            </a:r>
            <a:r>
              <a:rPr lang="tr-TR" sz="1800" dirty="0" err="1"/>
              <a:t>Linear</a:t>
            </a:r>
            <a:r>
              <a:rPr lang="tr-TR" sz="1800" dirty="0"/>
              <a:t> </a:t>
            </a:r>
            <a:r>
              <a:rPr lang="tr-TR" sz="1800" dirty="0" err="1"/>
              <a:t>Neuron</a:t>
            </a:r>
            <a:r>
              <a:rPr lang="tr-TR" sz="1800" dirty="0"/>
              <a:t>) isimli modeli geliştirdiler.</a:t>
            </a:r>
          </a:p>
          <a:p>
            <a:r>
              <a:rPr lang="tr-TR" sz="1800" dirty="0"/>
              <a:t>ADALINE ünitesi yapı olarak tek katmanlı doğrusal sınıflandırıcı olan </a:t>
            </a:r>
            <a:r>
              <a:rPr lang="tr-TR" sz="1800" dirty="0" err="1"/>
              <a:t>Perceptron</a:t>
            </a:r>
            <a:r>
              <a:rPr lang="tr-TR" sz="1800" dirty="0"/>
              <a:t> ünitesine benzemekte ancak öğrenme kuralı farklıdır.</a:t>
            </a:r>
          </a:p>
          <a:p>
            <a:r>
              <a:rPr lang="tr-TR" sz="1800" dirty="0"/>
              <a:t>ADALINE modelinde; giriş değerleri ağırlık değerleriyle çarpıldıktan sonra </a:t>
            </a:r>
            <a:r>
              <a:rPr lang="tr-TR" sz="1800" dirty="0" err="1"/>
              <a:t>bias</a:t>
            </a:r>
            <a:r>
              <a:rPr lang="tr-TR" sz="1800" dirty="0"/>
              <a:t> değeriyle toplanıyor. </a:t>
            </a:r>
          </a:p>
          <a:p>
            <a:r>
              <a:rPr lang="tr-TR" sz="1800" dirty="0"/>
              <a:t>Elde edilen toplam değeri; </a:t>
            </a:r>
          </a:p>
          <a:p>
            <a:pPr lvl="1"/>
            <a:r>
              <a:rPr lang="tr-TR" sz="1600" dirty="0"/>
              <a:t>0 değerinden büyükse çıkış değeri 1, </a:t>
            </a:r>
          </a:p>
          <a:p>
            <a:pPr lvl="1"/>
            <a:r>
              <a:rPr lang="tr-TR" sz="1600" dirty="0"/>
              <a:t>sıfır değerinden küçük veya eşitse çıkış değeri -1 </a:t>
            </a:r>
          </a:p>
          <a:p>
            <a:r>
              <a:rPr lang="tr-TR" sz="1800" dirty="0"/>
              <a:t>atanıyor. Solda ADALINE modeli gösterilmektedir.</a:t>
            </a:r>
          </a:p>
          <a:p>
            <a:endParaRPr lang="tr-TR" sz="1800" dirty="0"/>
          </a:p>
        </p:txBody>
      </p:sp>
      <p:pic>
        <p:nvPicPr>
          <p:cNvPr id="4098" name="Picture 2">
            <a:extLst>
              <a:ext uri="{FF2B5EF4-FFF2-40B4-BE49-F238E27FC236}">
                <a16:creationId xmlns:a16="http://schemas.microsoft.com/office/drawing/2014/main" id="{B3F5BEC8-A7BF-4478-9696-D9083D4FC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40" y="2951638"/>
            <a:ext cx="5830660" cy="245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884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863199-784F-42B1-A989-D2F24F7998EA}"/>
              </a:ext>
            </a:extLst>
          </p:cNvPr>
          <p:cNvSpPr>
            <a:spLocks noGrp="1"/>
          </p:cNvSpPr>
          <p:nvPr>
            <p:ph type="title"/>
          </p:nvPr>
        </p:nvSpPr>
        <p:spPr>
          <a:xfrm>
            <a:off x="1202919" y="284176"/>
            <a:ext cx="9784080" cy="1508760"/>
          </a:xfrm>
        </p:spPr>
        <p:txBody>
          <a:bodyPr>
            <a:normAutofit/>
          </a:bodyPr>
          <a:lstStyle/>
          <a:p>
            <a:r>
              <a:rPr lang="tr-TR" b="0" i="0" err="1">
                <a:effectLst/>
                <a:latin typeface="Arial" panose="020B0604020202020204" pitchFamily="34" charset="0"/>
              </a:rPr>
              <a:t>SIngle</a:t>
            </a:r>
            <a:r>
              <a:rPr lang="tr-TR" b="0" i="0">
                <a:effectLst/>
                <a:latin typeface="Arial" panose="020B0604020202020204" pitchFamily="34" charset="0"/>
              </a:rPr>
              <a:t> </a:t>
            </a:r>
            <a:r>
              <a:rPr lang="tr-TR" b="0" i="0" err="1">
                <a:effectLst/>
                <a:latin typeface="Arial" panose="020B0604020202020204" pitchFamily="34" charset="0"/>
              </a:rPr>
              <a:t>Layer</a:t>
            </a:r>
            <a:r>
              <a:rPr lang="tr-TR" b="0" i="0">
                <a:effectLst/>
                <a:latin typeface="Arial" panose="020B0604020202020204" pitchFamily="34" charset="0"/>
              </a:rPr>
              <a:t> </a:t>
            </a:r>
            <a:r>
              <a:rPr lang="tr-TR" b="0" i="0" err="1">
                <a:effectLst/>
                <a:latin typeface="Arial" panose="020B0604020202020204" pitchFamily="34" charset="0"/>
              </a:rPr>
              <a:t>Perceptron</a:t>
            </a:r>
            <a:br>
              <a:rPr lang="tr-TR" b="0" i="0">
                <a:effectLst/>
                <a:latin typeface="Arial" panose="020B0604020202020204" pitchFamily="34" charset="0"/>
              </a:rPr>
            </a:br>
            <a:r>
              <a:rPr lang="tr-TR" b="0" i="0">
                <a:effectLst/>
                <a:latin typeface="Arial" panose="020B0604020202020204" pitchFamily="34" charset="0"/>
              </a:rPr>
              <a:t>TEK KATMANLI ALGILAYICI</a:t>
            </a:r>
            <a:endParaRPr lang="tr-TR" dirty="0"/>
          </a:p>
        </p:txBody>
      </p:sp>
      <p:sp>
        <p:nvSpPr>
          <p:cNvPr id="3" name="İçerik Yer Tutucusu 2">
            <a:extLst>
              <a:ext uri="{FF2B5EF4-FFF2-40B4-BE49-F238E27FC236}">
                <a16:creationId xmlns:a16="http://schemas.microsoft.com/office/drawing/2014/main" id="{CFC69A46-C790-49E6-B69D-7DF12460AE63}"/>
              </a:ext>
            </a:extLst>
          </p:cNvPr>
          <p:cNvSpPr>
            <a:spLocks noGrp="1"/>
          </p:cNvSpPr>
          <p:nvPr>
            <p:ph idx="1"/>
          </p:nvPr>
        </p:nvSpPr>
        <p:spPr>
          <a:xfrm>
            <a:off x="6885993" y="2045110"/>
            <a:ext cx="4963886" cy="4630898"/>
          </a:xfrm>
        </p:spPr>
        <p:txBody>
          <a:bodyPr>
            <a:normAutofit/>
          </a:bodyPr>
          <a:lstStyle/>
          <a:p>
            <a:r>
              <a:rPr lang="tr-TR" sz="1800" dirty="0"/>
              <a:t>Bias değeri, iki sınıfı birbirinden ayıran doğruyu (karar sınırını) başlangıç noktasından uzaklaştırmayı sağlamaktadır.</a:t>
            </a:r>
          </a:p>
          <a:p>
            <a:r>
              <a:rPr lang="tr-TR" sz="1800" dirty="0"/>
              <a:t>Toplama fonksiyonu, bir yapay sinir hücresine gelen net girdiyi hesaplar. Uygulanacak toplama fonksiyonu yapay sinir ağı modeline bağlı olarak belirlenmektedir. </a:t>
            </a:r>
          </a:p>
          <a:p>
            <a:r>
              <a:rPr lang="tr-TR" sz="1800" dirty="0"/>
              <a:t>Bir yapay sinir ağındaki bütün hücrelerin toplama fonksiyonu aynı olmak </a:t>
            </a:r>
            <a:r>
              <a:rPr lang="tr-TR" sz="1800" dirty="0">
                <a:solidFill>
                  <a:srgbClr val="FF0000"/>
                </a:solidFill>
              </a:rPr>
              <a:t>zorunda değildir</a:t>
            </a:r>
            <a:r>
              <a:rPr lang="tr-TR" sz="1800" dirty="0"/>
              <a:t>.</a:t>
            </a:r>
          </a:p>
        </p:txBody>
      </p:sp>
      <p:pic>
        <p:nvPicPr>
          <p:cNvPr id="4098" name="Picture 2">
            <a:extLst>
              <a:ext uri="{FF2B5EF4-FFF2-40B4-BE49-F238E27FC236}">
                <a16:creationId xmlns:a16="http://schemas.microsoft.com/office/drawing/2014/main" id="{B3F5BEC8-A7BF-4478-9696-D9083D4FC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40" y="2951638"/>
            <a:ext cx="5830660" cy="2453800"/>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6850187D-BEC9-40B9-A52A-3F97842D90B9}"/>
              </a:ext>
            </a:extLst>
          </p:cNvPr>
          <p:cNvSpPr txBox="1"/>
          <p:nvPr/>
        </p:nvSpPr>
        <p:spPr>
          <a:xfrm>
            <a:off x="594804" y="6312023"/>
            <a:ext cx="4273927" cy="369332"/>
          </a:xfrm>
          <a:prstGeom prst="rect">
            <a:avLst/>
          </a:prstGeom>
          <a:noFill/>
        </p:spPr>
        <p:txBody>
          <a:bodyPr wrap="none" rtlCol="0">
            <a:spAutoFit/>
          </a:bodyPr>
          <a:lstStyle/>
          <a:p>
            <a:r>
              <a:rPr lang="tr-TR" dirty="0">
                <a:solidFill>
                  <a:srgbClr val="FF0000"/>
                </a:solidFill>
              </a:rPr>
              <a:t>Başka ne tür toplama fonksiyonları olabilir?</a:t>
            </a:r>
          </a:p>
        </p:txBody>
      </p:sp>
    </p:spTree>
    <p:extLst>
      <p:ext uri="{BB962C8B-B14F-4D97-AF65-F5344CB8AC3E}">
        <p14:creationId xmlns:p14="http://schemas.microsoft.com/office/powerpoint/2010/main" val="3065847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863199-784F-42B1-A989-D2F24F7998EA}"/>
              </a:ext>
            </a:extLst>
          </p:cNvPr>
          <p:cNvSpPr>
            <a:spLocks noGrp="1"/>
          </p:cNvSpPr>
          <p:nvPr>
            <p:ph type="title"/>
          </p:nvPr>
        </p:nvSpPr>
        <p:spPr>
          <a:xfrm>
            <a:off x="1202919" y="284176"/>
            <a:ext cx="9784080" cy="1508760"/>
          </a:xfrm>
        </p:spPr>
        <p:txBody>
          <a:bodyPr>
            <a:normAutofit/>
          </a:bodyPr>
          <a:lstStyle/>
          <a:p>
            <a:r>
              <a:rPr lang="tr-TR" b="0" i="0" err="1">
                <a:effectLst/>
                <a:latin typeface="Arial" panose="020B0604020202020204" pitchFamily="34" charset="0"/>
              </a:rPr>
              <a:t>SIngle</a:t>
            </a:r>
            <a:r>
              <a:rPr lang="tr-TR" b="0" i="0">
                <a:effectLst/>
                <a:latin typeface="Arial" panose="020B0604020202020204" pitchFamily="34" charset="0"/>
              </a:rPr>
              <a:t> </a:t>
            </a:r>
            <a:r>
              <a:rPr lang="tr-TR" b="0" i="0" err="1">
                <a:effectLst/>
                <a:latin typeface="Arial" panose="020B0604020202020204" pitchFamily="34" charset="0"/>
              </a:rPr>
              <a:t>Layer</a:t>
            </a:r>
            <a:r>
              <a:rPr lang="tr-TR" b="0" i="0">
                <a:effectLst/>
                <a:latin typeface="Arial" panose="020B0604020202020204" pitchFamily="34" charset="0"/>
              </a:rPr>
              <a:t> </a:t>
            </a:r>
            <a:r>
              <a:rPr lang="tr-TR" b="0" i="0" err="1">
                <a:effectLst/>
                <a:latin typeface="Arial" panose="020B0604020202020204" pitchFamily="34" charset="0"/>
              </a:rPr>
              <a:t>Perceptron</a:t>
            </a:r>
            <a:br>
              <a:rPr lang="tr-TR" b="0" i="0">
                <a:effectLst/>
                <a:latin typeface="Arial" panose="020B0604020202020204" pitchFamily="34" charset="0"/>
              </a:rPr>
            </a:br>
            <a:r>
              <a:rPr lang="tr-TR" b="0" i="0">
                <a:effectLst/>
                <a:latin typeface="Arial" panose="020B0604020202020204" pitchFamily="34" charset="0"/>
              </a:rPr>
              <a:t>TEK KATMANLI ALGILAYICI</a:t>
            </a:r>
            <a:endParaRPr lang="tr-TR" dirty="0"/>
          </a:p>
        </p:txBody>
      </p:sp>
      <p:sp>
        <p:nvSpPr>
          <p:cNvPr id="3" name="İçerik Yer Tutucusu 2">
            <a:extLst>
              <a:ext uri="{FF2B5EF4-FFF2-40B4-BE49-F238E27FC236}">
                <a16:creationId xmlns:a16="http://schemas.microsoft.com/office/drawing/2014/main" id="{CFC69A46-C790-49E6-B69D-7DF12460AE63}"/>
              </a:ext>
            </a:extLst>
          </p:cNvPr>
          <p:cNvSpPr>
            <a:spLocks noGrp="1"/>
          </p:cNvSpPr>
          <p:nvPr>
            <p:ph idx="1"/>
          </p:nvPr>
        </p:nvSpPr>
        <p:spPr>
          <a:xfrm>
            <a:off x="6885993" y="2045110"/>
            <a:ext cx="4963886" cy="4630898"/>
          </a:xfrm>
        </p:spPr>
        <p:txBody>
          <a:bodyPr>
            <a:normAutofit/>
          </a:bodyPr>
          <a:lstStyle/>
          <a:p>
            <a:r>
              <a:rPr lang="tr-TR" sz="1800" dirty="0"/>
              <a:t>Aktivasyon fonksiyonu, hücreye gelen net girdiyi işleyerek hücrenin bu girdiye karşılık üreteceği çıktıyı belirler. </a:t>
            </a:r>
          </a:p>
          <a:p>
            <a:r>
              <a:rPr lang="tr-TR" sz="1800" dirty="0"/>
              <a:t>Toplama fonksiyonunda olduğu gibi yapay sinir ağındaki tüm hücrelerin </a:t>
            </a:r>
            <a:r>
              <a:rPr lang="tr-TR" sz="1800" dirty="0">
                <a:solidFill>
                  <a:srgbClr val="FF0000"/>
                </a:solidFill>
              </a:rPr>
              <a:t>aynı aktivasyon fonksiyonunu kullanması gerekli değildir</a:t>
            </a:r>
            <a:r>
              <a:rPr lang="tr-TR" sz="1800" dirty="0"/>
              <a:t>.</a:t>
            </a:r>
          </a:p>
        </p:txBody>
      </p:sp>
      <p:pic>
        <p:nvPicPr>
          <p:cNvPr id="4098" name="Picture 2">
            <a:extLst>
              <a:ext uri="{FF2B5EF4-FFF2-40B4-BE49-F238E27FC236}">
                <a16:creationId xmlns:a16="http://schemas.microsoft.com/office/drawing/2014/main" id="{B3F5BEC8-A7BF-4478-9696-D9083D4FC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40" y="2951638"/>
            <a:ext cx="5830660" cy="2453800"/>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6850187D-BEC9-40B9-A52A-3F97842D90B9}"/>
              </a:ext>
            </a:extLst>
          </p:cNvPr>
          <p:cNvSpPr txBox="1"/>
          <p:nvPr/>
        </p:nvSpPr>
        <p:spPr>
          <a:xfrm>
            <a:off x="594804" y="6312023"/>
            <a:ext cx="4506362" cy="369332"/>
          </a:xfrm>
          <a:prstGeom prst="rect">
            <a:avLst/>
          </a:prstGeom>
          <a:noFill/>
        </p:spPr>
        <p:txBody>
          <a:bodyPr wrap="none" rtlCol="0">
            <a:spAutoFit/>
          </a:bodyPr>
          <a:lstStyle/>
          <a:p>
            <a:r>
              <a:rPr lang="tr-TR" dirty="0">
                <a:solidFill>
                  <a:srgbClr val="FF0000"/>
                </a:solidFill>
              </a:rPr>
              <a:t>Başka ne tür aktivasyon fonksiyonları olabilir?</a:t>
            </a:r>
          </a:p>
        </p:txBody>
      </p:sp>
    </p:spTree>
    <p:extLst>
      <p:ext uri="{BB962C8B-B14F-4D97-AF65-F5344CB8AC3E}">
        <p14:creationId xmlns:p14="http://schemas.microsoft.com/office/powerpoint/2010/main" val="1149492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A2E28D-A038-413B-8E11-FE74BF04C034}"/>
              </a:ext>
            </a:extLst>
          </p:cNvPr>
          <p:cNvSpPr>
            <a:spLocks noGrp="1"/>
          </p:cNvSpPr>
          <p:nvPr>
            <p:ph type="title"/>
          </p:nvPr>
        </p:nvSpPr>
        <p:spPr/>
        <p:txBody>
          <a:bodyPr/>
          <a:lstStyle/>
          <a:p>
            <a:r>
              <a:rPr lang="tr-TR" dirty="0"/>
              <a:t>Örnek SORUN ve ÇÖZÜMÜ</a:t>
            </a:r>
          </a:p>
        </p:txBody>
      </p:sp>
      <p:sp>
        <p:nvSpPr>
          <p:cNvPr id="3" name="İçerik Yer Tutucusu 2">
            <a:extLst>
              <a:ext uri="{FF2B5EF4-FFF2-40B4-BE49-F238E27FC236}">
                <a16:creationId xmlns:a16="http://schemas.microsoft.com/office/drawing/2014/main" id="{F67562B7-013E-4324-B1C0-164478A7D9AF}"/>
              </a:ext>
            </a:extLst>
          </p:cNvPr>
          <p:cNvSpPr>
            <a:spLocks noGrp="1"/>
          </p:cNvSpPr>
          <p:nvPr>
            <p:ph idx="1"/>
          </p:nvPr>
        </p:nvSpPr>
        <p:spPr/>
        <p:txBody>
          <a:bodyPr/>
          <a:lstStyle/>
          <a:p>
            <a:r>
              <a:rPr lang="tr-TR" dirty="0">
                <a:hlinkClick r:id="rId2"/>
              </a:rPr>
              <a:t>https://www.youtube.com/watch?v=VhRtaziEWd4&amp;list=RDCMUCh9nVJoWXmFb7sLApWGcLPQ&amp;start_radio=1&amp;rv=VhRtaziEWd4&amp;t=956</a:t>
            </a:r>
            <a:endParaRPr lang="tr-TR" dirty="0"/>
          </a:p>
          <a:p>
            <a:endParaRPr lang="tr-TR" dirty="0"/>
          </a:p>
        </p:txBody>
      </p:sp>
    </p:spTree>
    <p:extLst>
      <p:ext uri="{BB962C8B-B14F-4D97-AF65-F5344CB8AC3E}">
        <p14:creationId xmlns:p14="http://schemas.microsoft.com/office/powerpoint/2010/main" val="35742172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7F39D7C-D313-48CB-9630-DD3A11EE058D}"/>
              </a:ext>
            </a:extLst>
          </p:cNvPr>
          <p:cNvSpPr>
            <a:spLocks noGrp="1"/>
          </p:cNvSpPr>
          <p:nvPr>
            <p:ph type="title"/>
          </p:nvPr>
        </p:nvSpPr>
        <p:spPr/>
        <p:txBody>
          <a:bodyPr/>
          <a:lstStyle/>
          <a:p>
            <a:r>
              <a:rPr lang="tr-TR" dirty="0"/>
              <a:t>ÖRNEK</a:t>
            </a:r>
          </a:p>
        </p:txBody>
      </p:sp>
      <p:sp>
        <p:nvSpPr>
          <p:cNvPr id="3" name="İçerik Yer Tutucusu 2">
            <a:extLst>
              <a:ext uri="{FF2B5EF4-FFF2-40B4-BE49-F238E27FC236}">
                <a16:creationId xmlns:a16="http://schemas.microsoft.com/office/drawing/2014/main" id="{86E5B572-C803-4DB9-AC3C-775971CD8BC1}"/>
              </a:ext>
            </a:extLst>
          </p:cNvPr>
          <p:cNvSpPr>
            <a:spLocks noGrp="1"/>
          </p:cNvSpPr>
          <p:nvPr>
            <p:ph idx="1"/>
          </p:nvPr>
        </p:nvSpPr>
        <p:spPr/>
        <p:txBody>
          <a:bodyPr/>
          <a:lstStyle/>
          <a:p>
            <a:r>
              <a:rPr lang="tr-TR" dirty="0">
                <a:hlinkClick r:id="rId2"/>
              </a:rPr>
              <a:t>https://www.youtube.com/watch?v=GheRR_0ZpyI</a:t>
            </a:r>
            <a:endParaRPr lang="tr-TR" dirty="0"/>
          </a:p>
          <a:p>
            <a:r>
              <a:rPr lang="tr-TR" dirty="0">
                <a:hlinkClick r:id="rId3"/>
              </a:rPr>
              <a:t>https://www.youtube.com/watch?v=xp6kHUwK51Q</a:t>
            </a:r>
            <a:endParaRPr lang="tr-TR" dirty="0"/>
          </a:p>
          <a:p>
            <a:endParaRPr lang="tr-TR" dirty="0"/>
          </a:p>
          <a:p>
            <a:r>
              <a:rPr lang="tr-TR" dirty="0">
                <a:hlinkClick r:id="rId4"/>
              </a:rPr>
              <a:t>https://github.com/yitopeligo/perceptron-training/blob/master/perceptron_implementation.ipynb</a:t>
            </a:r>
            <a:endParaRPr lang="tr-TR" dirty="0"/>
          </a:p>
          <a:p>
            <a:endParaRPr lang="tr-TR" dirty="0"/>
          </a:p>
          <a:p>
            <a:r>
              <a:rPr lang="tr-TR" dirty="0"/>
              <a:t>Bir görüntü işleme sorununu tek katmanlı algılayıcı ile nasıl çözülebilir?</a:t>
            </a:r>
          </a:p>
          <a:p>
            <a:pPr lvl="1"/>
            <a:r>
              <a:rPr lang="tr-TR" dirty="0"/>
              <a:t>Final Ödev 1: Sadece basitçe bir görsel ve bir paragraf metin ile durumu ifade etme…</a:t>
            </a:r>
          </a:p>
          <a:p>
            <a:endParaRPr lang="tr-TR" dirty="0"/>
          </a:p>
        </p:txBody>
      </p:sp>
    </p:spTree>
    <p:extLst>
      <p:ext uri="{BB962C8B-B14F-4D97-AF65-F5344CB8AC3E}">
        <p14:creationId xmlns:p14="http://schemas.microsoft.com/office/powerpoint/2010/main" val="1556372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6E39462-3AF7-466D-A69D-62A91DDF5D4B}"/>
              </a:ext>
            </a:extLst>
          </p:cNvPr>
          <p:cNvSpPr>
            <a:spLocks noGrp="1"/>
          </p:cNvSpPr>
          <p:nvPr>
            <p:ph type="title"/>
          </p:nvPr>
        </p:nvSpPr>
        <p:spPr/>
        <p:txBody>
          <a:bodyPr/>
          <a:lstStyle/>
          <a:p>
            <a:r>
              <a:rPr lang="tr-TR" dirty="0"/>
              <a:t>ÇOK KATMANLI ALGILAYICI AĞLAR</a:t>
            </a:r>
          </a:p>
        </p:txBody>
      </p:sp>
      <p:sp>
        <p:nvSpPr>
          <p:cNvPr id="3" name="İçerik Yer Tutucusu 2">
            <a:extLst>
              <a:ext uri="{FF2B5EF4-FFF2-40B4-BE49-F238E27FC236}">
                <a16:creationId xmlns:a16="http://schemas.microsoft.com/office/drawing/2014/main" id="{5682DCF2-14CE-4CC4-AAC5-B5584D1B6AAE}"/>
              </a:ext>
            </a:extLst>
          </p:cNvPr>
          <p:cNvSpPr>
            <a:spLocks noGrp="1"/>
          </p:cNvSpPr>
          <p:nvPr>
            <p:ph idx="1"/>
          </p:nvPr>
        </p:nvSpPr>
        <p:spPr/>
        <p:txBody>
          <a:bodyPr/>
          <a:lstStyle/>
          <a:p>
            <a:r>
              <a:rPr lang="tr-TR" dirty="0">
                <a:hlinkClick r:id="rId2"/>
              </a:rPr>
              <a:t>https://www.youtube.com/watch?v=ER2It2mIagI</a:t>
            </a:r>
            <a:endParaRPr lang="tr-TR" dirty="0"/>
          </a:p>
          <a:p>
            <a:endParaRPr lang="tr-TR" dirty="0"/>
          </a:p>
        </p:txBody>
      </p:sp>
    </p:spTree>
    <p:extLst>
      <p:ext uri="{BB962C8B-B14F-4D97-AF65-F5344CB8AC3E}">
        <p14:creationId xmlns:p14="http://schemas.microsoft.com/office/powerpoint/2010/main" val="1962982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7CB6D0-5259-4557-B043-C86FCEA48DD8}"/>
              </a:ext>
            </a:extLst>
          </p:cNvPr>
          <p:cNvSpPr>
            <a:spLocks noGrp="1"/>
          </p:cNvSpPr>
          <p:nvPr>
            <p:ph type="title"/>
          </p:nvPr>
        </p:nvSpPr>
        <p:spPr/>
        <p:txBody>
          <a:bodyPr/>
          <a:lstStyle/>
          <a:p>
            <a:r>
              <a:rPr lang="tr-TR" dirty="0"/>
              <a:t>DERİN ÖĞRENME</a:t>
            </a:r>
          </a:p>
        </p:txBody>
      </p:sp>
      <p:sp>
        <p:nvSpPr>
          <p:cNvPr id="3" name="İçerik Yer Tutucusu 2">
            <a:extLst>
              <a:ext uri="{FF2B5EF4-FFF2-40B4-BE49-F238E27FC236}">
                <a16:creationId xmlns:a16="http://schemas.microsoft.com/office/drawing/2014/main" id="{3C4EBC6A-20FD-4F7E-B770-4A17409C7780}"/>
              </a:ext>
            </a:extLst>
          </p:cNvPr>
          <p:cNvSpPr>
            <a:spLocks noGrp="1"/>
          </p:cNvSpPr>
          <p:nvPr>
            <p:ph idx="1"/>
          </p:nvPr>
        </p:nvSpPr>
        <p:spPr/>
        <p:txBody>
          <a:bodyPr/>
          <a:lstStyle/>
          <a:p>
            <a:r>
              <a:rPr lang="tr-TR" dirty="0"/>
              <a:t>155</a:t>
            </a:r>
          </a:p>
          <a:p>
            <a:r>
              <a:rPr lang="tr-TR" dirty="0"/>
              <a:t>Derin öğrenme (aynı zamanda derin yapılandırılmış öğrenme, hiyerarşik öğrenme ya da derin makine öğrenmesi) bir veya daha fazla gizli katman içeren yapay sinir ağları ve benzeri makine öğrenme algoritmalarını kapsayan çalışma alanıdır.</a:t>
            </a:r>
          </a:p>
          <a:p>
            <a:r>
              <a:rPr lang="tr-TR" dirty="0"/>
              <a:t>Yani en az bir adet yapay sinir ağının (YSA) kullanıldığı ve birçok algoritma ile, bilgisayarın eldeki verilerden yeni veriler elde etmesidir.</a:t>
            </a:r>
          </a:p>
          <a:p>
            <a:endParaRPr lang="tr-TR" dirty="0"/>
          </a:p>
        </p:txBody>
      </p:sp>
      <p:pic>
        <p:nvPicPr>
          <p:cNvPr id="5" name="Resim 4">
            <a:extLst>
              <a:ext uri="{FF2B5EF4-FFF2-40B4-BE49-F238E27FC236}">
                <a16:creationId xmlns:a16="http://schemas.microsoft.com/office/drawing/2014/main" id="{C68F1AE0-0F98-4C9A-B0AD-CD09C2EC9A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0553" y="4203821"/>
            <a:ext cx="3870354" cy="2488084"/>
          </a:xfrm>
          <a:prstGeom prst="rect">
            <a:avLst/>
          </a:prstGeom>
        </p:spPr>
      </p:pic>
      <p:pic>
        <p:nvPicPr>
          <p:cNvPr id="7" name="Resim 6">
            <a:extLst>
              <a:ext uri="{FF2B5EF4-FFF2-40B4-BE49-F238E27FC236}">
                <a16:creationId xmlns:a16="http://schemas.microsoft.com/office/drawing/2014/main" id="{5E5224C5-FE31-472B-8335-5A708F50CE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2086" y="4203822"/>
            <a:ext cx="3688060" cy="2488084"/>
          </a:xfrm>
          <a:prstGeom prst="rect">
            <a:avLst/>
          </a:prstGeom>
        </p:spPr>
      </p:pic>
    </p:spTree>
    <p:extLst>
      <p:ext uri="{BB962C8B-B14F-4D97-AF65-F5344CB8AC3E}">
        <p14:creationId xmlns:p14="http://schemas.microsoft.com/office/powerpoint/2010/main" val="837835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4C5CCB6-ECDB-466D-AE13-9515B7EC2A03}"/>
              </a:ext>
            </a:extLst>
          </p:cNvPr>
          <p:cNvSpPr>
            <a:spLocks noGrp="1"/>
          </p:cNvSpPr>
          <p:nvPr>
            <p:ph type="title"/>
          </p:nvPr>
        </p:nvSpPr>
        <p:spPr/>
        <p:txBody>
          <a:bodyPr/>
          <a:lstStyle/>
          <a:p>
            <a:r>
              <a:rPr lang="tr-TR" dirty="0"/>
              <a:t>Örnekler</a:t>
            </a:r>
          </a:p>
        </p:txBody>
      </p:sp>
      <p:sp>
        <p:nvSpPr>
          <p:cNvPr id="3" name="İçerik Yer Tutucusu 2">
            <a:extLst>
              <a:ext uri="{FF2B5EF4-FFF2-40B4-BE49-F238E27FC236}">
                <a16:creationId xmlns:a16="http://schemas.microsoft.com/office/drawing/2014/main" id="{219A4B04-0242-42D0-8831-50BD4C48B2EB}"/>
              </a:ext>
            </a:extLst>
          </p:cNvPr>
          <p:cNvSpPr>
            <a:spLocks noGrp="1"/>
          </p:cNvSpPr>
          <p:nvPr>
            <p:ph idx="1"/>
          </p:nvPr>
        </p:nvSpPr>
        <p:spPr/>
        <p:txBody>
          <a:bodyPr/>
          <a:lstStyle/>
          <a:p>
            <a:r>
              <a:rPr lang="tr-TR" dirty="0">
                <a:hlinkClick r:id="rId2"/>
              </a:rPr>
              <a:t>https://www.youtube.com/watch?v=ni6P5KU3SDU</a:t>
            </a:r>
            <a:endParaRPr lang="tr-TR" dirty="0"/>
          </a:p>
          <a:p>
            <a:pPr lvl="1"/>
            <a:r>
              <a:rPr lang="tr-TR" dirty="0">
                <a:hlinkClick r:id="rId3"/>
              </a:rPr>
              <a:t>https://arxiv.org/abs/1803.00657</a:t>
            </a:r>
            <a:endParaRPr lang="tr-TR" dirty="0"/>
          </a:p>
          <a:p>
            <a:r>
              <a:rPr lang="tr-TR" dirty="0">
                <a:hlinkClick r:id="rId4"/>
              </a:rPr>
              <a:t>https://www.youtube.com/watch?v=9RzCZZBjlxM</a:t>
            </a:r>
            <a:endParaRPr lang="tr-TR" dirty="0"/>
          </a:p>
          <a:p>
            <a:pPr lvl="1"/>
            <a:r>
              <a:rPr lang="tr-TR" dirty="0">
                <a:hlinkClick r:id="rId5"/>
              </a:rPr>
              <a:t>https://wandb.ai/site/papers</a:t>
            </a:r>
            <a:endParaRPr lang="tr-TR" dirty="0"/>
          </a:p>
          <a:p>
            <a:r>
              <a:rPr lang="tr-TR" dirty="0">
                <a:hlinkClick r:id="rId6"/>
              </a:rPr>
              <a:t>https://www.youtube.com/watch?v=jjfDO2pWpys</a:t>
            </a:r>
            <a:endParaRPr lang="tr-TR" dirty="0"/>
          </a:p>
          <a:p>
            <a:pPr lvl="1"/>
            <a:endParaRPr lang="tr-TR" dirty="0"/>
          </a:p>
          <a:p>
            <a:endParaRPr lang="tr-TR" dirty="0"/>
          </a:p>
          <a:p>
            <a:pPr lvl="1"/>
            <a:endParaRPr lang="tr-TR" dirty="0"/>
          </a:p>
        </p:txBody>
      </p:sp>
    </p:spTree>
    <p:extLst>
      <p:ext uri="{BB962C8B-B14F-4D97-AF65-F5344CB8AC3E}">
        <p14:creationId xmlns:p14="http://schemas.microsoft.com/office/powerpoint/2010/main" val="806110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0FF4443-5884-40E5-A3DF-F2FBC6529489}"/>
              </a:ext>
            </a:extLst>
          </p:cNvPr>
          <p:cNvSpPr>
            <a:spLocks noGrp="1"/>
          </p:cNvSpPr>
          <p:nvPr>
            <p:ph type="title"/>
          </p:nvPr>
        </p:nvSpPr>
        <p:spPr/>
        <p:txBody>
          <a:bodyPr/>
          <a:lstStyle/>
          <a:p>
            <a:r>
              <a:rPr lang="tr-TR" dirty="0"/>
              <a:t>İnsan nasıl görür</a:t>
            </a:r>
          </a:p>
        </p:txBody>
      </p:sp>
      <p:sp>
        <p:nvSpPr>
          <p:cNvPr id="3" name="İçerik Yer Tutucusu 2">
            <a:extLst>
              <a:ext uri="{FF2B5EF4-FFF2-40B4-BE49-F238E27FC236}">
                <a16:creationId xmlns:a16="http://schemas.microsoft.com/office/drawing/2014/main" id="{3B3530D2-9FE9-4430-918E-497422343B7F}"/>
              </a:ext>
            </a:extLst>
          </p:cNvPr>
          <p:cNvSpPr>
            <a:spLocks noGrp="1"/>
          </p:cNvSpPr>
          <p:nvPr>
            <p:ph idx="1"/>
          </p:nvPr>
        </p:nvSpPr>
        <p:spPr/>
        <p:txBody>
          <a:bodyPr/>
          <a:lstStyle/>
          <a:p>
            <a:r>
              <a:rPr lang="tr-TR" dirty="0"/>
              <a:t>169</a:t>
            </a:r>
          </a:p>
        </p:txBody>
      </p:sp>
    </p:spTree>
    <p:extLst>
      <p:ext uri="{BB962C8B-B14F-4D97-AF65-F5344CB8AC3E}">
        <p14:creationId xmlns:p14="http://schemas.microsoft.com/office/powerpoint/2010/main" val="1049285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AFCFC41-7C1F-40C5-8F53-5B737F835108}"/>
              </a:ext>
            </a:extLst>
          </p:cNvPr>
          <p:cNvSpPr>
            <a:spLocks noGrp="1"/>
          </p:cNvSpPr>
          <p:nvPr>
            <p:ph type="title"/>
          </p:nvPr>
        </p:nvSpPr>
        <p:spPr/>
        <p:txBody>
          <a:bodyPr/>
          <a:lstStyle/>
          <a:p>
            <a:r>
              <a:rPr lang="tr-TR" dirty="0"/>
              <a:t>Bilgisayar nasıl görür</a:t>
            </a:r>
          </a:p>
        </p:txBody>
      </p:sp>
      <p:sp>
        <p:nvSpPr>
          <p:cNvPr id="3" name="İçerik Yer Tutucusu 2">
            <a:extLst>
              <a:ext uri="{FF2B5EF4-FFF2-40B4-BE49-F238E27FC236}">
                <a16:creationId xmlns:a16="http://schemas.microsoft.com/office/drawing/2014/main" id="{F9BF6A90-E856-4611-84D9-EE672949A904}"/>
              </a:ext>
            </a:extLst>
          </p:cNvPr>
          <p:cNvSpPr>
            <a:spLocks noGrp="1"/>
          </p:cNvSpPr>
          <p:nvPr>
            <p:ph idx="1"/>
          </p:nvPr>
        </p:nvSpPr>
        <p:spPr/>
        <p:txBody>
          <a:bodyPr/>
          <a:lstStyle/>
          <a:p>
            <a:r>
              <a:rPr lang="tr-TR" dirty="0"/>
              <a:t>171</a:t>
            </a:r>
          </a:p>
        </p:txBody>
      </p:sp>
    </p:spTree>
    <p:extLst>
      <p:ext uri="{BB962C8B-B14F-4D97-AF65-F5344CB8AC3E}">
        <p14:creationId xmlns:p14="http://schemas.microsoft.com/office/powerpoint/2010/main" val="4030623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C1200D4-8095-4CE0-8C36-923FF3B652D1}"/>
              </a:ext>
            </a:extLst>
          </p:cNvPr>
          <p:cNvSpPr>
            <a:spLocks noGrp="1"/>
          </p:cNvSpPr>
          <p:nvPr>
            <p:ph type="title"/>
          </p:nvPr>
        </p:nvSpPr>
        <p:spPr/>
        <p:txBody>
          <a:bodyPr/>
          <a:lstStyle/>
          <a:p>
            <a:r>
              <a:rPr lang="tr-TR" dirty="0" err="1"/>
              <a:t>cnn</a:t>
            </a:r>
            <a:endParaRPr lang="tr-TR" dirty="0"/>
          </a:p>
        </p:txBody>
      </p:sp>
      <p:sp>
        <p:nvSpPr>
          <p:cNvPr id="3" name="İçerik Yer Tutucusu 2">
            <a:extLst>
              <a:ext uri="{FF2B5EF4-FFF2-40B4-BE49-F238E27FC236}">
                <a16:creationId xmlns:a16="http://schemas.microsoft.com/office/drawing/2014/main" id="{D20B3522-9342-4F3A-A590-2C2C9B456D71}"/>
              </a:ext>
            </a:extLst>
          </p:cNvPr>
          <p:cNvSpPr>
            <a:spLocks noGrp="1"/>
          </p:cNvSpPr>
          <p:nvPr>
            <p:ph idx="1"/>
          </p:nvPr>
        </p:nvSpPr>
        <p:spPr/>
        <p:txBody>
          <a:bodyPr/>
          <a:lstStyle/>
          <a:p>
            <a:r>
              <a:rPr lang="tr-TR" dirty="0"/>
              <a:t>207</a:t>
            </a:r>
          </a:p>
          <a:p>
            <a:r>
              <a:rPr lang="tr-TR" dirty="0">
                <a:hlinkClick r:id="rId2"/>
              </a:rPr>
              <a:t>https://www.youtube.com/watch?v=zfiSAzpy9NM</a:t>
            </a:r>
            <a:endParaRPr lang="tr-TR" dirty="0"/>
          </a:p>
          <a:p>
            <a:r>
              <a:rPr lang="tr-TR" dirty="0">
                <a:hlinkClick r:id="rId3"/>
              </a:rPr>
              <a:t>https://cs231n.github.io/convolutional-networks/</a:t>
            </a:r>
            <a:endParaRPr lang="tr-TR" dirty="0"/>
          </a:p>
          <a:p>
            <a:endParaRPr lang="tr-TR" dirty="0"/>
          </a:p>
          <a:p>
            <a:endParaRPr lang="tr-TR" dirty="0"/>
          </a:p>
        </p:txBody>
      </p:sp>
    </p:spTree>
    <p:extLst>
      <p:ext uri="{BB962C8B-B14F-4D97-AF65-F5344CB8AC3E}">
        <p14:creationId xmlns:p14="http://schemas.microsoft.com/office/powerpoint/2010/main" val="259210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AA6452C-3685-419E-90D5-BF96DD96970F}"/>
              </a:ext>
            </a:extLst>
          </p:cNvPr>
          <p:cNvSpPr>
            <a:spLocks noGrp="1"/>
          </p:cNvSpPr>
          <p:nvPr>
            <p:ph type="title"/>
          </p:nvPr>
        </p:nvSpPr>
        <p:spPr/>
        <p:txBody>
          <a:bodyPr/>
          <a:lstStyle/>
          <a:p>
            <a:r>
              <a:rPr lang="tr-TR" dirty="0" err="1"/>
              <a:t>cnN</a:t>
            </a:r>
            <a:r>
              <a:rPr lang="tr-TR" dirty="0"/>
              <a:t> ÖRNEK</a:t>
            </a:r>
          </a:p>
        </p:txBody>
      </p:sp>
      <p:sp>
        <p:nvSpPr>
          <p:cNvPr id="3" name="İçerik Yer Tutucusu 2">
            <a:extLst>
              <a:ext uri="{FF2B5EF4-FFF2-40B4-BE49-F238E27FC236}">
                <a16:creationId xmlns:a16="http://schemas.microsoft.com/office/drawing/2014/main" id="{7356124B-CF96-45C9-9811-757BB473ED18}"/>
              </a:ext>
            </a:extLst>
          </p:cNvPr>
          <p:cNvSpPr>
            <a:spLocks noGrp="1"/>
          </p:cNvSpPr>
          <p:nvPr>
            <p:ph idx="1"/>
          </p:nvPr>
        </p:nvSpPr>
        <p:spPr/>
        <p:txBody>
          <a:bodyPr/>
          <a:lstStyle/>
          <a:p>
            <a:r>
              <a:rPr lang="tr-TR" dirty="0">
                <a:hlinkClick r:id="rId2"/>
              </a:rPr>
              <a:t>https://www.youtube.com/watch?v=7HPwo4wnJeA</a:t>
            </a:r>
            <a:endParaRPr lang="tr-TR" dirty="0"/>
          </a:p>
          <a:p>
            <a:endParaRPr lang="tr-TR" dirty="0"/>
          </a:p>
        </p:txBody>
      </p:sp>
    </p:spTree>
    <p:extLst>
      <p:ext uri="{BB962C8B-B14F-4D97-AF65-F5344CB8AC3E}">
        <p14:creationId xmlns:p14="http://schemas.microsoft.com/office/powerpoint/2010/main" val="16827716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7BE5A8C-E250-4EE8-A3D0-0DD0F09EB58C}"/>
              </a:ext>
            </a:extLst>
          </p:cNvPr>
          <p:cNvSpPr>
            <a:spLocks noGrp="1"/>
          </p:cNvSpPr>
          <p:nvPr>
            <p:ph type="title"/>
          </p:nvPr>
        </p:nvSpPr>
        <p:spPr/>
        <p:txBody>
          <a:bodyPr/>
          <a:lstStyle/>
          <a:p>
            <a:r>
              <a:rPr lang="tr-TR" dirty="0"/>
              <a:t>Derin Öğrenme İle Yapılan Görüntü İşleme çalışmaları - TR</a:t>
            </a:r>
          </a:p>
        </p:txBody>
      </p:sp>
      <p:sp>
        <p:nvSpPr>
          <p:cNvPr id="3" name="İçerik Yer Tutucusu 2">
            <a:extLst>
              <a:ext uri="{FF2B5EF4-FFF2-40B4-BE49-F238E27FC236}">
                <a16:creationId xmlns:a16="http://schemas.microsoft.com/office/drawing/2014/main" id="{2BD7E1C4-B11C-4DA9-9822-7602F866310B}"/>
              </a:ext>
            </a:extLst>
          </p:cNvPr>
          <p:cNvSpPr>
            <a:spLocks noGrp="1"/>
          </p:cNvSpPr>
          <p:nvPr>
            <p:ph idx="1"/>
          </p:nvPr>
        </p:nvSpPr>
        <p:spPr/>
        <p:txBody>
          <a:bodyPr/>
          <a:lstStyle/>
          <a:p>
            <a:r>
              <a:rPr lang="tr-TR" dirty="0" err="1"/>
              <a:t>Dergipark</a:t>
            </a:r>
            <a:endParaRPr lang="tr-TR" dirty="0"/>
          </a:p>
        </p:txBody>
      </p:sp>
    </p:spTree>
    <p:extLst>
      <p:ext uri="{BB962C8B-B14F-4D97-AF65-F5344CB8AC3E}">
        <p14:creationId xmlns:p14="http://schemas.microsoft.com/office/powerpoint/2010/main" val="1877542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3778392-EBBE-4DD4-8C42-9DCD8A854E3D}"/>
              </a:ext>
            </a:extLst>
          </p:cNvPr>
          <p:cNvSpPr>
            <a:spLocks noGrp="1"/>
          </p:cNvSpPr>
          <p:nvPr>
            <p:ph type="title"/>
          </p:nvPr>
        </p:nvSpPr>
        <p:spPr/>
        <p:txBody>
          <a:bodyPr/>
          <a:lstStyle/>
          <a:p>
            <a:r>
              <a:rPr lang="tr-TR" dirty="0"/>
              <a:t>CNN – </a:t>
            </a:r>
            <a:r>
              <a:rPr lang="tr-TR" dirty="0" err="1"/>
              <a:t>Konvolüsyonel</a:t>
            </a:r>
            <a:r>
              <a:rPr lang="tr-TR" dirty="0"/>
              <a:t> Sinir Ağları</a:t>
            </a:r>
          </a:p>
        </p:txBody>
      </p:sp>
      <p:sp>
        <p:nvSpPr>
          <p:cNvPr id="3" name="İçerik Yer Tutucusu 2">
            <a:extLst>
              <a:ext uri="{FF2B5EF4-FFF2-40B4-BE49-F238E27FC236}">
                <a16:creationId xmlns:a16="http://schemas.microsoft.com/office/drawing/2014/main" id="{75A6DBF9-BA86-4744-A143-8D0F2458FA9C}"/>
              </a:ext>
            </a:extLst>
          </p:cNvPr>
          <p:cNvSpPr>
            <a:spLocks noGrp="1"/>
          </p:cNvSpPr>
          <p:nvPr>
            <p:ph idx="1"/>
          </p:nvPr>
        </p:nvSpPr>
        <p:spPr/>
        <p:txBody>
          <a:bodyPr/>
          <a:lstStyle/>
          <a:p>
            <a:r>
              <a:rPr lang="tr-TR" dirty="0"/>
              <a:t>207</a:t>
            </a:r>
          </a:p>
          <a:p>
            <a:r>
              <a:rPr lang="tr-TR" dirty="0"/>
              <a:t>https://cs231n.github.io/</a:t>
            </a:r>
          </a:p>
        </p:txBody>
      </p:sp>
    </p:spTree>
    <p:extLst>
      <p:ext uri="{BB962C8B-B14F-4D97-AF65-F5344CB8AC3E}">
        <p14:creationId xmlns:p14="http://schemas.microsoft.com/office/powerpoint/2010/main" val="16761672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Şeritli">
  <a:themeElements>
    <a:clrScheme name="Şeritli">
      <a:dk1>
        <a:sysClr val="windowText" lastClr="000000"/>
      </a:dk1>
      <a:lt1>
        <a:sysClr val="window" lastClr="FFFFFF"/>
      </a:lt1>
      <a:dk2>
        <a:srgbClr val="323232"/>
      </a:dk2>
      <a:lt2>
        <a:srgbClr val="E3DED1"/>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Şeritli">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Şeritli">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tint val="98000"/>
              </a:schemeClr>
              <a:schemeClr val="phClr">
                <a:tint val="99000"/>
                <a:shade val="96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C3935CB6-B0E3-44A7-AB37-996D901F73AB}"/>
    </a:ext>
  </a:extLst>
</a:theme>
</file>

<file path=docProps/app.xml><?xml version="1.0" encoding="utf-8"?>
<Properties xmlns="http://schemas.openxmlformats.org/officeDocument/2006/extended-properties" xmlns:vt="http://schemas.openxmlformats.org/officeDocument/2006/docPropsVTypes">
  <Template>TM03090430[[fn=Şeritli]]</Template>
  <TotalTime>625</TotalTime>
  <Words>1457</Words>
  <Application>Microsoft Office PowerPoint</Application>
  <PresentationFormat>Geniş ekran</PresentationFormat>
  <Paragraphs>141</Paragraphs>
  <Slides>39</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39</vt:i4>
      </vt:variant>
    </vt:vector>
  </HeadingPairs>
  <TitlesOfParts>
    <vt:vector size="44" baseType="lpstr">
      <vt:lpstr>Arial</vt:lpstr>
      <vt:lpstr>Arial</vt:lpstr>
      <vt:lpstr>Corbel</vt:lpstr>
      <vt:lpstr>Wingdings</vt:lpstr>
      <vt:lpstr>Şeritli</vt:lpstr>
      <vt:lpstr>Makine Öğrenmesi</vt:lpstr>
      <vt:lpstr>PowerPoint Sunusu</vt:lpstr>
      <vt:lpstr>Öğrenme</vt:lpstr>
      <vt:lpstr>Makine Öğrenmesi</vt:lpstr>
      <vt:lpstr>Makine Öğrenmesi Yöntemleri</vt:lpstr>
      <vt:lpstr>Makine ÖĞRENMESİ ÖRNEĞİ</vt:lpstr>
      <vt:lpstr>Öğretmenli Öğrenme (Supervised)</vt:lpstr>
      <vt:lpstr>Destekleyici Öğrenme (Reinforcement)</vt:lpstr>
      <vt:lpstr>Öğretmensiz Öğrenme</vt:lpstr>
      <vt:lpstr>Yapay Sinir Ağları</vt:lpstr>
      <vt:lpstr>Beyin</vt:lpstr>
      <vt:lpstr>Sinir Hücresi</vt:lpstr>
      <vt:lpstr>Sinir Hücresi</vt:lpstr>
      <vt:lpstr>Perceptron kavramı</vt:lpstr>
      <vt:lpstr>YaPAY SİNİR AĞI, 178</vt:lpstr>
      <vt:lpstr>YSA ÖRNEKLERİ</vt:lpstr>
      <vt:lpstr>YSA ÖRNEKLERİ</vt:lpstr>
      <vt:lpstr>SIngle Layer Perceptron TEK KATMANLI ALGILAYICI</vt:lpstr>
      <vt:lpstr>SIngle Layer Perceptron TEK KATMANLI ALGILAYICI</vt:lpstr>
      <vt:lpstr>SIngle Layer Perceptron TEK KATMANLI ALGILAYICI</vt:lpstr>
      <vt:lpstr>SIngle Layer Perceptron TEK KATMANLI ALGILAYICI</vt:lpstr>
      <vt:lpstr>SIngle Layer Perceptron TEK KATMANLI ALGILAYICI</vt:lpstr>
      <vt:lpstr>SIngle Layer Perceptron TEK KATMANLI ALGILAYICI</vt:lpstr>
      <vt:lpstr>SIngle Layer Perceptron TEK KATMANLI ALGILAYICI</vt:lpstr>
      <vt:lpstr>SIngle Layer Perceptron TEK KATMANLI ALGILAYICI</vt:lpstr>
      <vt:lpstr>SIngle Layer Perceptron TEK KATMANLI ALGILAYICI</vt:lpstr>
      <vt:lpstr>SIngle Layer Perceptron TEK KATMANLI ALGILAYICI</vt:lpstr>
      <vt:lpstr>SIngle Layer Perceptron TEK KATMANLI ALGILAYICI</vt:lpstr>
      <vt:lpstr>Örnek SORUN ve ÇÖZÜMÜ</vt:lpstr>
      <vt:lpstr>ÖRNEK</vt:lpstr>
      <vt:lpstr>ÇOK KATMANLI ALGILAYICI AĞLAR</vt:lpstr>
      <vt:lpstr>DERİN ÖĞRENME</vt:lpstr>
      <vt:lpstr>Örnekler</vt:lpstr>
      <vt:lpstr>İnsan nasıl görür</vt:lpstr>
      <vt:lpstr>Bilgisayar nasıl görür</vt:lpstr>
      <vt:lpstr>cnn</vt:lpstr>
      <vt:lpstr>cnN ÖRNEK</vt:lpstr>
      <vt:lpstr>Derin Öğrenme İle Yapılan Görüntü İşleme çalışmaları - TR</vt:lpstr>
      <vt:lpstr>CNN – Konvolüsyonel Sinir Ağları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Hüseyin GÜNEŞ</dc:creator>
  <cp:lastModifiedBy>Hüseyin GÜNEŞ</cp:lastModifiedBy>
  <cp:revision>25</cp:revision>
  <dcterms:created xsi:type="dcterms:W3CDTF">2021-04-25T16:22:09Z</dcterms:created>
  <dcterms:modified xsi:type="dcterms:W3CDTF">2021-06-09T12:55:32Z</dcterms:modified>
</cp:coreProperties>
</file>