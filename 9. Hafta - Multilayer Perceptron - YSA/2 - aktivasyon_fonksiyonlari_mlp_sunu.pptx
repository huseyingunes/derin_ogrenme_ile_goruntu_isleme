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210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767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94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Fonksiyonları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580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Doğrusal olmayan ifade gücü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MLP’nin “çok katmanlı” olmasını anlamlı hale getiren unsur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50392" y="245059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50392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07592" y="2450592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Kritik fikir: Aktivasyon yoksa katmanlar sadece lineer dönüşümleri üst üste dizer.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2834640"/>
            <a:ext cx="1143000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8412480" y="2834640"/>
            <a:ext cx="1097280" cy="0"/>
          </a:xfrm>
          <a:prstGeom prst="line">
            <a:avLst/>
          </a:prstGeom>
          <a:noFill/>
          <a:ln w="17780">
            <a:solidFill>
              <a:srgbClr val="07868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0195560" y="2834640"/>
            <a:ext cx="1051560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172200" y="2505456"/>
            <a:ext cx="713232" cy="713232"/>
          </a:xfrm>
          <a:prstGeom prst="ellipse">
            <a:avLst/>
          </a:prstGeom>
          <a:solidFill>
            <a:srgbClr val="F8FBFF"/>
          </a:solidFill>
          <a:ln w="2032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227064" y="2724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818120" y="2505456"/>
            <a:ext cx="713232" cy="713232"/>
          </a:xfrm>
          <a:prstGeom prst="ellipse">
            <a:avLst/>
          </a:prstGeom>
          <a:solidFill>
            <a:srgbClr val="F3FEFD"/>
          </a:solidFill>
          <a:ln w="2032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872984" y="2724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601200" y="2505456"/>
            <a:ext cx="713232" cy="713232"/>
          </a:xfrm>
          <a:prstGeom prst="ellipse">
            <a:avLst/>
          </a:prstGeom>
          <a:solidFill>
            <a:srgbClr val="F8FBFF"/>
          </a:solidFill>
          <a:ln w="2032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9656064" y="2724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1338560" y="2505456"/>
            <a:ext cx="713232" cy="713232"/>
          </a:xfrm>
          <a:prstGeom prst="ellipse">
            <a:avLst/>
          </a:prstGeom>
          <a:solidFill>
            <a:srgbClr val="F3FEFD"/>
          </a:solidFill>
          <a:ln w="2032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11393424" y="27249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94360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3"/>
                </a:solidFill>
              </a:rPr>
              <a:t>ağırlıklı toplam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3"/>
                </a:solidFill>
              </a:rPr>
              <a:t>aktivasyon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3429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3"/>
                </a:solidFill>
              </a:rPr>
              <a:t>sonraki katman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sunuda: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31520" y="381304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731520" y="386334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Aktivasyonun neden gerekli olduğunu mantıksal olarak göreceğiz.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31520" y="436168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31520" y="441198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Sigmoid, tanh, ReLU, Softmax, GELU ve Swish’i kullanım bağlamıyla ayıracağız.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31520" y="500176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731520" y="505206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8016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ile aktivasyon fonksiyonlarını adım adım kodlayacağız.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309360" y="4800600"/>
            <a:ext cx="4983480" cy="713232"/>
          </a:xfrm>
          <a:prstGeom prst="roundRect">
            <a:avLst>
              <a:gd name="adj" fmla="val 12821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6473952" y="49194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6473952" y="4974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31152" y="4919472"/>
            <a:ext cx="4178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Anlatım hedefi matematiksel ispat değil; “katman neden işe yarar?” sorusunun sezgisel cevabıdır.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nerede devreye girer?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Nöronun karar boru hattı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83080" y="2423160"/>
            <a:ext cx="841248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657600" y="2423160"/>
            <a:ext cx="841248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532120" y="2423160"/>
            <a:ext cx="841248" cy="0"/>
          </a:xfrm>
          <a:prstGeom prst="line">
            <a:avLst/>
          </a:prstGeom>
          <a:noFill/>
          <a:ln w="17780">
            <a:solidFill>
              <a:srgbClr val="07868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406640" y="2423160"/>
            <a:ext cx="841248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9281160" y="2423160"/>
            <a:ext cx="841248" cy="0"/>
          </a:xfrm>
          <a:prstGeom prst="line">
            <a:avLst/>
          </a:prstGeom>
          <a:noFill/>
          <a:ln w="1778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91440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EF7FF"/>
          </a:solidFill>
          <a:ln w="1524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6012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Girdi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78892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EF7FF"/>
          </a:solidFill>
          <a:ln w="1524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83464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Ağırlıklarla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birleştir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EF7FF"/>
          </a:solidFill>
          <a:ln w="1524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 etki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∑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AF9F8"/>
          </a:solidFill>
          <a:ln w="1524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58368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f(·)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1248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EF7FF"/>
          </a:solidFill>
          <a:ln w="1524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845820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Çıktı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287000" y="201168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EEF7FF"/>
          </a:solidFill>
          <a:ln w="1524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0332720" y="21854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katman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" y="342900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078992" y="35478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1078992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36192" y="3547872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fonksiyonu, nöronun ham hesabını “yorumlanabilir bir tepkiye” dönüştürür. Bu tepki bazen 0–1 arası bir olasılık, bazen negatifleri kesen bir sinyal, bazen de sınıflar arası dağılımdır.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342900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EAF9F8"/>
          </a:solidFill>
          <a:ln w="12700">
            <a:solidFill>
              <a:srgbClr val="9CD9D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428232" y="35478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428232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85432" y="3547872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bakış: Aktivasyon, ağa yalnızca “toplama” değil, “bükme, eşikleme, sıkıştırma ve seçme” davranışı kazandırır.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834640" y="4983480"/>
            <a:ext cx="64922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063240" y="5175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 cümle: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069080" y="517550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Ağırlıklı toplam kararın ham maddesidir; aktivasyon fonksiyonu karar sınırını doğrusal olmaktan çıkarır.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yoksa derinlik ne kazandırır?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Cevap: neredeyse hiçbir şey; ağ yine lineer kalır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Aktivasyonsuz ağ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011680" y="2651760"/>
            <a:ext cx="594360" cy="0"/>
          </a:xfrm>
          <a:prstGeom prst="line">
            <a:avLst/>
          </a:prstGeom>
          <a:noFill/>
          <a:ln w="1651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794760" y="2651760"/>
            <a:ext cx="594360" cy="0"/>
          </a:xfrm>
          <a:prstGeom prst="line">
            <a:avLst/>
          </a:prstGeom>
          <a:noFill/>
          <a:ln w="1651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914400" y="2240280"/>
            <a:ext cx="1097280" cy="82296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397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69264" y="244144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Lineer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katman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97480" y="2240280"/>
            <a:ext cx="1097280" cy="82296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397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752344" y="244144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Lineer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katman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2240280"/>
            <a:ext cx="1097280" cy="82296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397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35424" y="244144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Lineer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katman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600200" y="3611880"/>
            <a:ext cx="3611880" cy="0"/>
          </a:xfrm>
          <a:prstGeom prst="line">
            <a:avLst/>
          </a:prstGeom>
          <a:noFill/>
          <a:ln w="13970">
            <a:solidFill>
              <a:srgbClr val="5A6B83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148840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lineer katmana indirgenebilir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74920" y="3200400"/>
            <a:ext cx="12344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5A6B8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138928" y="34107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Tek lineer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82047"/>
                </a:solidFill>
              </a:rPr>
              <a:t>katman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Aktivasyonlu ağ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863840" y="2560320"/>
            <a:ext cx="365760" cy="0"/>
          </a:xfrm>
          <a:prstGeom prst="line">
            <a:avLst/>
          </a:prstGeom>
          <a:noFill/>
          <a:ln w="16510">
            <a:solidFill>
              <a:srgbClr val="07868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9555480" y="2560320"/>
            <a:ext cx="365760" cy="0"/>
          </a:xfrm>
          <a:prstGeom prst="line">
            <a:avLst/>
          </a:prstGeom>
          <a:noFill/>
          <a:ln w="16510">
            <a:solidFill>
              <a:srgbClr val="07868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629400" y="2148840"/>
            <a:ext cx="1234440" cy="82296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397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702552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047"/>
                </a:solidFill>
              </a:rPr>
              <a:t>Lineer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21040" y="2148840"/>
            <a:ext cx="1234440" cy="822960"/>
          </a:xfrm>
          <a:prstGeom prst="roundRect">
            <a:avLst>
              <a:gd name="adj" fmla="val 10000"/>
            </a:avLst>
          </a:prstGeom>
          <a:solidFill>
            <a:srgbClr val="EAF9F8"/>
          </a:solidFill>
          <a:ln w="1397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394192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047"/>
                </a:solidFill>
              </a:rPr>
              <a:t>f(·)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12680" y="2148840"/>
            <a:ext cx="1234440" cy="82296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397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10085832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047"/>
                </a:solidFill>
              </a:rPr>
              <a:t>Lineer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29400" y="3566160"/>
            <a:ext cx="4389120" cy="822960"/>
          </a:xfrm>
          <a:prstGeom prst="roundRect">
            <a:avLst>
              <a:gd name="adj" fmla="val 11111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793992" y="368503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793992" y="37398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51192" y="3685032"/>
            <a:ext cx="3584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Araya giren aktivasyon, lineer dönüşümlerin üst üste binip tek katmana çökmesini engeller.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4983480"/>
            <a:ext cx="10378440" cy="731520"/>
          </a:xfrm>
          <a:prstGeom prst="roundRect">
            <a:avLst>
              <a:gd name="adj" fmla="val 12500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987552" y="510235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987552" y="5157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44752" y="5102352"/>
            <a:ext cx="9573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Kritik nokta: Çok katmanlı olmak tek başına yeterli değildir. Katmanlar arasında doğrusal olmayan bir aktivasyon olmalıdır.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Doğrusal olmayan karar sınırı nasıl ortaya çıkar?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Aktivasyon, düz çizgiyi parçalı ve esnek hale getirir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1600200"/>
            <a:ext cx="48006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09728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yok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5880" y="4709160"/>
            <a:ext cx="3749040" cy="0"/>
          </a:xfrm>
          <a:prstGeom prst="line">
            <a:avLst/>
          </a:prstGeom>
          <a:noFill/>
          <a:ln w="12700">
            <a:solidFill>
              <a:srgbClr val="082047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325880" y="4709160"/>
            <a:ext cx="0" cy="0"/>
          </a:xfrm>
          <a:prstGeom prst="line">
            <a:avLst/>
          </a:prstGeom>
          <a:noFill/>
          <a:ln w="12700">
            <a:solidFill>
              <a:srgbClr val="082047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737360" y="4389120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901952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5D9"/>
                </a:solidFill>
              </a:rPr>
              <a:t>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468880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645152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5D9"/>
                </a:solidFill>
              </a:rPr>
              <a:t>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468880"/>
            <a:ext cx="164592" cy="164592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901952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868E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4389120"/>
            <a:ext cx="164592" cy="164592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645152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868E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0" y="4389120"/>
            <a:ext cx="3474720" cy="0"/>
          </a:xfrm>
          <a:prstGeom prst="line">
            <a:avLst/>
          </a:prstGeom>
          <a:noFill/>
          <a:ln w="13970">
            <a:solidFill>
              <a:srgbClr val="5A6B8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74320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3"/>
                </a:solidFill>
              </a:rPr>
              <a:t>tek çizgi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6B83"/>
                </a:solidFill>
              </a:rPr>
              <a:t>yetmiyor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1600200"/>
            <a:ext cx="48006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67512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var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03720" y="4709160"/>
            <a:ext cx="3749040" cy="0"/>
          </a:xfrm>
          <a:prstGeom prst="line">
            <a:avLst/>
          </a:prstGeom>
          <a:noFill/>
          <a:ln w="12700">
            <a:solidFill>
              <a:srgbClr val="082047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903720" y="4709160"/>
            <a:ext cx="0" cy="0"/>
          </a:xfrm>
          <a:prstGeom prst="line">
            <a:avLst/>
          </a:prstGeom>
          <a:noFill/>
          <a:ln w="12700">
            <a:solidFill>
              <a:srgbClr val="082047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7315200" y="4389120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479792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5D9"/>
                </a:solidFill>
              </a:rPr>
              <a:t>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0" y="2468880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10222992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5D9"/>
                </a:solidFill>
              </a:rPr>
              <a:t>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2468880"/>
            <a:ext cx="164592" cy="164592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479792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868E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0" y="4389120"/>
            <a:ext cx="164592" cy="164592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10222992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7868E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2971800"/>
            <a:ext cx="1325880" cy="0"/>
          </a:xfrm>
          <a:prstGeom prst="line">
            <a:avLst/>
          </a:prstGeom>
          <a:noFill/>
          <a:ln w="1778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8503920" y="2971800"/>
            <a:ext cx="0" cy="1325880"/>
          </a:xfrm>
          <a:prstGeom prst="line">
            <a:avLst/>
          </a:prstGeom>
          <a:noFill/>
          <a:ln w="1778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8503920" y="4297680"/>
            <a:ext cx="1417320" cy="0"/>
          </a:xfrm>
          <a:prstGeom prst="line">
            <a:avLst/>
          </a:prstGeom>
          <a:noFill/>
          <a:ln w="1778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836676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868E"/>
                </a:solidFill>
              </a:rPr>
              <a:t>parçalı karar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868E"/>
                </a:solidFill>
              </a:rPr>
              <a:t>sınırı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48840" y="5486400"/>
            <a:ext cx="7909560" cy="640080"/>
          </a:xfrm>
          <a:prstGeom prst="roundRect">
            <a:avLst>
              <a:gd name="adj" fmla="val 14286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2313432" y="56052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2313432" y="5660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0632" y="5605272"/>
            <a:ext cx="7104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Mantıksal fikir: Aktivasyonlar küçük ara kararlar üretir; ağ bu ara kararları birleştirerek karmaşık sınırlar kurar.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Aktivasyon aileleri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Fonksiyonları ezberlemek yerine davranışlarına göre ayır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169164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EEF7FF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024128" y="2011680"/>
            <a:ext cx="640080" cy="64008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024128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↘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10512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Sıkıştıranlar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0512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Sigmoid, Tanh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10512" y="24414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Geniş giriş aralığını sınırlı bir aralığa toplar. Olasılık veya kontrollü sinyal için uygundur.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169164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EAF9F8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647688" y="2011680"/>
            <a:ext cx="640080" cy="64008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647688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▱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34072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Kesip geçirenler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4072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ReLU, Leaky ReLU, ELU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34072" y="24414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Negatif bölgeyi bastırır, pozitif sinyali geçirir. Derin ağların gizli katmanlarında yaygındır.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56616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EEF7FF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1024128" y="3886200"/>
            <a:ext cx="640080" cy="64008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024128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810512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Dağılım üretenler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10512" y="4050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810512" y="4315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Birden fazla sınıf için toplamı 1 olan olasılık dağılımı üretir.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356616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EAF9F8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647688" y="3886200"/>
            <a:ext cx="640080" cy="64008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647688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∿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434072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Düzgün modernler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34072" y="4050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GELU, Swish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34072" y="4315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Keskin eşik yerine yumuşak geçiş yapar. Transformer ve modern CNN mimarilerinde sık görülür.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234440" y="5623560"/>
            <a:ext cx="9738360" cy="658368"/>
          </a:xfrm>
          <a:prstGeom prst="roundRect">
            <a:avLst>
              <a:gd name="adj" fmla="val 13889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1399032" y="574243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399032" y="57972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56232" y="5742432"/>
            <a:ext cx="8933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anlatımı için ana ayrım: gizli katman aktivasyonları özellik çıkarır; çıktı katmanı aktivasyonları cevabı yorumlanabilir hale getirir.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Hangi aktivasyon ne zaman seçilir?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Pratik seçim rehberi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1600200"/>
            <a:ext cx="105613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22960" y="1600200"/>
            <a:ext cx="10561320" cy="574766"/>
          </a:xfrm>
          <a:prstGeom prst="rect">
            <a:avLst/>
          </a:prstGeom>
          <a:solidFill>
            <a:srgbClr val="EEF7FF"/>
          </a:solidFill>
          <a:ln w="1016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463290" y="1600200"/>
            <a:ext cx="0" cy="402336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103620" y="1600200"/>
            <a:ext cx="0" cy="402336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743950" y="1600200"/>
            <a:ext cx="0" cy="402336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822960" y="2174966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822960" y="2749731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22960" y="3324497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822960" y="3899263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822960" y="4474029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822960" y="5048794"/>
            <a:ext cx="10561320" cy="0"/>
          </a:xfrm>
          <a:prstGeom prst="line">
            <a:avLst/>
          </a:prstGeom>
          <a:noFill/>
          <a:ln w="7620">
            <a:solidFill>
              <a:srgbClr val="BBD2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59536" y="1673352"/>
            <a:ext cx="256717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Fonksiyon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3499866" y="1673352"/>
            <a:ext cx="256717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Mantıksal davranış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140196" y="1673352"/>
            <a:ext cx="256717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Tipik kullanım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780526" y="1673352"/>
            <a:ext cx="256717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Dikkat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59536" y="2229830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3499866" y="2229830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 arasına sıkıştırır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6140196" y="2229830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İkili sınıflandırma çıkışı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8780526" y="2229830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gizli katmanda zayıf gradyan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859536" y="2804595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Tanh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3499866" y="2804595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-1–1 arasına dengeler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6140196" y="2804595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/ bazı gizli katmanlar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8780526" y="2804595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Uçlarda gradyan küçülür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859536" y="3379361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3499866" y="3379361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Negatifi keser, pozitifi geçirir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140196" y="3379361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Gizli katman varsayılanı</a:t>
            </a:r>
            <a:endParaRPr lang="en-US" sz="1070" dirty="0"/>
          </a:p>
        </p:txBody>
      </p:sp>
      <p:sp>
        <p:nvSpPr>
          <p:cNvPr id="39" name="Text 37"/>
          <p:cNvSpPr/>
          <p:nvPr/>
        </p:nvSpPr>
        <p:spPr>
          <a:xfrm>
            <a:off x="8780526" y="3379361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Dying ReLU riski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859536" y="3954127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Leaky ReLU / ELU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3499866" y="3954127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Negatif bölgede küçük sinyal bırakır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6140196" y="3954127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başarısızsa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8780526" y="3954127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parametre / maliyet</a:t>
            </a:r>
            <a:endParaRPr lang="en-US" sz="1070" dirty="0"/>
          </a:p>
        </p:txBody>
      </p:sp>
      <p:sp>
        <p:nvSpPr>
          <p:cNvPr id="44" name="Text 42"/>
          <p:cNvSpPr/>
          <p:nvPr/>
        </p:nvSpPr>
        <p:spPr>
          <a:xfrm>
            <a:off x="859536" y="4528893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3499866" y="4528893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Sınıflar arası dağılım üretir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6140196" y="4528893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sınıflı çıktı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8780526" y="4528893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Büyük değerlerde sayısal dikkat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859536" y="5103658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GELU / Swish</a:t>
            </a:r>
            <a:endParaRPr lang="en-US" sz="1070" dirty="0"/>
          </a:p>
        </p:txBody>
      </p:sp>
      <p:sp>
        <p:nvSpPr>
          <p:cNvPr id="49" name="Text 47"/>
          <p:cNvSpPr/>
          <p:nvPr/>
        </p:nvSpPr>
        <p:spPr>
          <a:xfrm>
            <a:off x="3499866" y="5103658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Yumuşak geçiş sağlar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6140196" y="5103658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/ modern ağlar</a:t>
            </a:r>
            <a:endParaRPr lang="en-US" sz="1070" dirty="0"/>
          </a:p>
        </p:txBody>
      </p:sp>
      <p:sp>
        <p:nvSpPr>
          <p:cNvPr id="51" name="Text 49"/>
          <p:cNvSpPr/>
          <p:nvPr/>
        </p:nvSpPr>
        <p:spPr>
          <a:xfrm>
            <a:off x="8780526" y="5103658"/>
            <a:ext cx="256717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yüksek hesaplama maliyeti</a:t>
            </a:r>
            <a:endParaRPr lang="en-US" sz="1070" dirty="0"/>
          </a:p>
        </p:txBody>
      </p:sp>
      <p:sp>
        <p:nvSpPr>
          <p:cNvPr id="52" name="Shape 50"/>
          <p:cNvSpPr/>
          <p:nvPr/>
        </p:nvSpPr>
        <p:spPr>
          <a:xfrm>
            <a:off x="914400" y="5852160"/>
            <a:ext cx="10378440" cy="502920"/>
          </a:xfrm>
          <a:prstGeom prst="roundRect">
            <a:avLst>
              <a:gd name="adj" fmla="val 18182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1078992" y="597103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1078992" y="60258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*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536192" y="5971032"/>
            <a:ext cx="9573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kural: Gizli katmanlarda ReLU ailesi; ikili çıkışta Sigmoid; çok sınıflı çıkışta Softmax; Transformer tarzı yapılarda GELU.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Vanishing gradient sezgisi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Öğrenme sinyali katmanlar boyunca sönüyorsa ağ derinliği işe yaramaz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822960" cy="1280160"/>
          </a:xfrm>
          <a:prstGeom prst="rightArrow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82047"/>
                </a:solidFill>
              </a:rPr>
              <a:t>güçlü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82047"/>
                </a:solidFill>
              </a:rPr>
              <a:t>gradyan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2354580"/>
            <a:ext cx="822960" cy="960120"/>
          </a:xfrm>
          <a:prstGeom prst="rightArrow">
            <a:avLst/>
          </a:prstGeom>
          <a:solidFill>
            <a:srgbClr val="1455D9">
              <a:alpha val="94000"/>
            </a:srgbClr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87452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491740"/>
            <a:ext cx="822960" cy="685800"/>
          </a:xfrm>
          <a:prstGeom prst="rightArrow">
            <a:avLst/>
          </a:prstGeom>
          <a:solidFill>
            <a:srgbClr val="07868E">
              <a:alpha val="88000"/>
            </a:srgbClr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2615184"/>
            <a:ext cx="822960" cy="438912"/>
          </a:xfrm>
          <a:prstGeom prst="rightArrow">
            <a:avLst/>
          </a:prstGeom>
          <a:solidFill>
            <a:srgbClr val="07868E">
              <a:alpha val="82000"/>
            </a:srgbClr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97764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2706624"/>
            <a:ext cx="822960" cy="256032"/>
          </a:xfrm>
          <a:prstGeom prst="rightArrow">
            <a:avLst/>
          </a:prstGeom>
          <a:solidFill>
            <a:srgbClr val="5A6B83">
              <a:alpha val="76000"/>
            </a:srgbClr>
          </a:solidFill>
          <a:ln w="12700">
            <a:solidFill>
              <a:srgbClr val="5A6B8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02920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94A4A"/>
                </a:solidFill>
              </a:rPr>
              <a:t>neredeyse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94A4A"/>
                </a:solidFill>
              </a:rPr>
              <a:t>sıfır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Sigmoid / tanh uç bölgelerde doygunlaşır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0" y="181051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601968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Geri yayılımda küçük türevler art arda çarpılır.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235915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601968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 katmanlara ulaşan güncelleme sinyali küçülür.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90779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601968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Ağırlıklar değişmezse öğrenme fiilen yavaşlar veya durur.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3703320"/>
            <a:ext cx="4480560" cy="1005840"/>
          </a:xfrm>
          <a:prstGeom prst="roundRect">
            <a:avLst>
              <a:gd name="adj" fmla="val 12727"/>
            </a:avLst>
          </a:prstGeom>
          <a:solidFill>
            <a:srgbClr val="EAF9F8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629400" y="3867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ReLU neden rahatlatır?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41605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 bölgede sinyali doğrudan geçirir. Bu yüzden derin ağlarda gradyan akışı çoğu zaman daha sağlıklı olur.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914400" y="5303520"/>
            <a:ext cx="9921240" cy="713232"/>
          </a:xfrm>
          <a:prstGeom prst="roundRect">
            <a:avLst>
              <a:gd name="adj" fmla="val 12821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078992" y="542239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078992" y="5477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36192" y="5422392"/>
            <a:ext cx="9116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Sezgisel özet: Aktivasyon yalnızca çıktı üretmez; öğrenme sinyalinin katmanlar arasında nasıl akacağını da belirler.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Adım 1: Başlangıç ve yardımcı fonksiyon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ortamı ve örnek girişleri hazırlayalım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170992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176022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ile fonksiyonları kendimiz yazacağız.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25856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22960" y="230886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giriş dizisini her aktivasyonda deneyeceğiz.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280720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2960" y="285750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`show` çıktıları sadeleştirir; öğrenciler davranışı hızlı görür.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0644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007608" y="17465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163056" y="174650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318504" y="17465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062472" y="1984248"/>
            <a:ext cx="498348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import numpy as np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Aktivasyonları aynı girişte deneyeceğiz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 = np.linspace(-5, 5, 11)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Çıktıyı okunabilir göstermek için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show(name, y):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print(name, np.round(y, 3))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234440" y="5394960"/>
            <a:ext cx="9464040" cy="658368"/>
          </a:xfrm>
          <a:prstGeom prst="roundRect">
            <a:avLst>
              <a:gd name="adj" fmla="val 13889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399032" y="551383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399032" y="5568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56232" y="5513832"/>
            <a:ext cx="8659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anlatırken burada şu soruyu sorun: “Aynı ham değer farklı aktivasyonlardan geçince nasıl farklı yorumlanır?”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Adım 2: Sıkıştıran ve dağıtan aktivasyonlar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Sigmoid, tanh ve softmax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1572768"/>
            <a:ext cx="5486400" cy="4050792"/>
          </a:xfrm>
          <a:prstGeom prst="roundRect">
            <a:avLst>
              <a:gd name="adj" fmla="val 2709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024128" y="171907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17957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335024" y="171907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078992" y="1956816"/>
            <a:ext cx="502920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sigmoid(x):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1 / (1 + np.exp(-x))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tanh(x):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np.tanh(x)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softmax(z):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Sayısal kararlılık için en büyüğü çıkar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z = z - np.max(z)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exp_z = np.exp(z)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exp_z / exp_z.sum()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1600200"/>
            <a:ext cx="4434840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775704" y="1755648"/>
            <a:ext cx="384048" cy="384048"/>
          </a:xfrm>
          <a:prstGeom prst="ellipse">
            <a:avLst/>
          </a:prstGeom>
          <a:solidFill>
            <a:srgbClr val="EAF9F8"/>
          </a:solidFill>
          <a:ln w="12700">
            <a:solidFill>
              <a:srgbClr val="EAF9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775704" y="1819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868E"/>
                </a:solidFill>
              </a:rPr>
              <a:t>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Sigmoid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2039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 sınıfa ait olma olasılığı nedir?” sorusu için uygundur.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2697480"/>
            <a:ext cx="4434840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775704" y="2852928"/>
            <a:ext cx="384048" cy="384048"/>
          </a:xfrm>
          <a:prstGeom prst="ellipse">
            <a:avLst/>
          </a:prstGeom>
          <a:solidFill>
            <a:srgbClr val="EAF9F8"/>
          </a:solidFill>
          <a:ln w="12700">
            <a:solidFill>
              <a:srgbClr val="EAF9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75704" y="29169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868E"/>
                </a:solidFill>
              </a:rPr>
              <a:t>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3136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Sinyali -1 ile 1 arasında dengeler; ortalama sıfıra yakındır.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29400" y="3794760"/>
            <a:ext cx="4434840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BBD2F1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775704" y="3950208"/>
            <a:ext cx="384048" cy="384048"/>
          </a:xfrm>
          <a:prstGeom prst="ellipse">
            <a:avLst/>
          </a:prstGeom>
          <a:solidFill>
            <a:srgbClr val="EAF9F8"/>
          </a:solidFill>
          <a:ln w="12700">
            <a:solidFill>
              <a:srgbClr val="EAF9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775704" y="4014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868E"/>
                </a:solidFill>
              </a:rPr>
              <a:t>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42336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sınıflı çıktıda seçenekler arası olasılık dağılımı verir.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29400" y="5074920"/>
            <a:ext cx="4434840" cy="640080"/>
          </a:xfrm>
          <a:prstGeom prst="roundRect">
            <a:avLst>
              <a:gd name="adj" fmla="val 14286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812280" y="5184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Mantık: Bu fonksiyonlar sinyali yorumlanabilir aralıklara taşır.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Adım 3: ReLU ailesi ve modern aktivasyonlar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ağlarda sinyal akışını canlı tutmak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1572768"/>
            <a:ext cx="5760720" cy="4279392"/>
          </a:xfrm>
          <a:prstGeom prst="roundRect">
            <a:avLst>
              <a:gd name="adj" fmla="val 2564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78408" y="171907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13385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289304" y="171907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033272" y="1956816"/>
            <a:ext cx="530352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relu(x):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np.maximum(0, x)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leaky_relu(x, a=0.01):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np.maximum(a * x, x)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elu(x, a=1.0):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np.where(x &gt;= 0, x, a * (np.exp(x) - 1))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66560" y="1572768"/>
            <a:ext cx="4572000" cy="4279392"/>
          </a:xfrm>
          <a:prstGeom prst="roundRect">
            <a:avLst>
              <a:gd name="adj" fmla="val 2564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967728" y="171907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12317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278624" y="171907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022592" y="1956816"/>
            <a:ext cx="411480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from math import erf, sqrt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gelu(x):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Φ(x) yaklaşık normal CDF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0.5 * x * (1 + np.vectorize(erf)(x / sqrt(2)))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swish(x):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x * sigmoid(x)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1143000" y="5989320"/>
            <a:ext cx="9875520" cy="438912"/>
          </a:xfrm>
          <a:prstGeom prst="roundRect">
            <a:avLst>
              <a:gd name="adj" fmla="val 20833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1307592" y="610819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307592" y="6163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64792" y="6108192"/>
            <a:ext cx="9070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vurgusu: ReLU negatif gürültüyü bastırıp pozitif sinyali geçirir; Leaky/ELU/GELU/Swish daha yumuşak geçişler sunar.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Adım 4: Aktivasyon yoksa ağ ne olur?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ama lineer bir boru hattı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161848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166878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lineer katmanı üst üste koyduk.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16712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22960" y="221742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Arada aktivasyon yoksa çıktı yine lineer davranır.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280720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2960" y="285750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ekleyince ara temsil doğrusal olmayan hale gelir.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40680" y="1600200"/>
            <a:ext cx="5897880" cy="4069080"/>
          </a:xfrm>
          <a:prstGeom prst="roundRect">
            <a:avLst>
              <a:gd name="adj" fmla="val 2697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641848" y="17465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5797296" y="174650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952744" y="17465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696712" y="1984248"/>
            <a:ext cx="544068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deep_without_activation(x, W1, b1, W2, b2):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h = x @ W1 + b1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y = h @ W2 + b2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y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Aktivasyon eklenince ara temsil değişir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deep_with_relu(x, W1, b1, W2, b2):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h = relu(x @ W1 + b1)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y = h @ W2 + b2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y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1051560" y="516636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216152" y="528523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216152" y="5340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73352" y="5285232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Kritik satır: `h = relu(...)` ağı basit lineer zincir olmaktan çıkarır.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 Adım 5: Aktivasyonu değiştirilebilir MLP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ağ, farklı aktivasyon davranışı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160020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071A33"/>
          </a:solidFill>
          <a:ln w="12700">
            <a:solidFill>
              <a:srgbClr val="0D2A4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78408" y="17465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133856" y="174650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289304" y="17465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033272" y="1984248"/>
            <a:ext cx="557784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mlp_forward(x, W1, b1, W2, b2, activation):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1) Ham ara değer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z1 = x @ W1 + b1</a:t>
            </a:r>
            <a:endParaRPr lang="en-US" sz="1340" dirty="0"/>
          </a:p>
          <a:p>
            <a:pPr marL="0" indent="0">
              <a:buNone/>
            </a:pP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2) Aktivasyon: burada ağın karakteri değişir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h1 = activation(z1)</a:t>
            </a:r>
            <a:endParaRPr lang="en-US" sz="1340" dirty="0"/>
          </a:p>
          <a:p>
            <a:pPr marL="0" indent="0">
              <a:buNone/>
            </a:pP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3) Çıkış katmanı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z2 = h1 @ W2 + b2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EAF4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sigmoid(z2)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71780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86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Derste canlı deney fikri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78040" y="217627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379208" y="2057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activation=relu verin; negatif değerlerin nasıl kesildiğini tartışın.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7178040" y="286207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379208" y="2743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activation=sigmoid verin; her şeyin 0–1 arasına sıkıştığını gösterin.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178040" y="3547872"/>
            <a:ext cx="91440" cy="91440"/>
          </a:xfrm>
          <a:prstGeom prst="ellipse">
            <a:avLst/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379208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activation=tanh verin; negatif ve pozitif dengenin etkisini konuşun.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7086600" y="475488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251192" y="487375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251192" y="4928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08392" y="4873752"/>
            <a:ext cx="3355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pedagojik amaç: Aktivasyonun “tak-çıkar bir fonksiyon” değil, ağın öğrenme biçimini belirleyen temel tercih olduğunu göstermek.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84048"/>
            <a:ext cx="73152" cy="1051560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347472" y="1435608"/>
            <a:ext cx="73152" cy="320040"/>
          </a:xfrm>
          <a:prstGeom prst="rect">
            <a:avLst/>
          </a:prstGeom>
          <a:solidFill>
            <a:srgbClr val="07868E"/>
          </a:solidFill>
          <a:ln w="12700">
            <a:solidFill>
              <a:srgbClr val="0786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0149840" cy="0"/>
          </a:xfrm>
          <a:prstGeom prst="line">
            <a:avLst/>
          </a:prstGeom>
          <a:noFill/>
          <a:ln w="15240">
            <a:solidFill>
              <a:srgbClr val="0B63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84632" y="6556248"/>
            <a:ext cx="164592" cy="164592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65562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Derin Öğrenme ve Görüntü İşleme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6547104"/>
            <a:ext cx="0" cy="228600"/>
          </a:xfrm>
          <a:prstGeom prst="line">
            <a:avLst/>
          </a:prstGeom>
          <a:noFill/>
          <a:ln w="12700">
            <a:solidFill>
              <a:srgbClr val="0B63C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822192" y="65562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Fonksiyonları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84280" y="647395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384280" y="65242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Dersin ana fikri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069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78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fonksiyonu, MLP’nin ifade gücünü açar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152704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68680" y="157734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1508760"/>
            <a:ext cx="6035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yoksa çok katmanlı ağ tek lineer katmana indirgenebilir.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2139696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218998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121408"/>
            <a:ext cx="6035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Aktivasyon fonksiyonu karar sınırını bükerek doğrusal olmayan öğrenmeyi mümkün kılar.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2761488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68680" y="281178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2743200"/>
            <a:ext cx="6035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Sigmoid ve tanh yorumlanabilir ama derin ağlarda gradyan sönmesi riski taşır.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" y="3383280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68680" y="3433572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364992"/>
            <a:ext cx="6035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ailesi derin ağların gizli katmanlarında pratik ve güçlü bir başlangıçtır.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" y="4005072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07868E"/>
          </a:solidFill>
          <a:ln w="1270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68680" y="4055364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3986784"/>
            <a:ext cx="6035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çıktı katmanında çok sınıflı olasılık dağılımı üretir.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098280" y="2103120"/>
            <a:ext cx="457200" cy="0"/>
          </a:xfrm>
          <a:prstGeom prst="line">
            <a:avLst/>
          </a:prstGeom>
          <a:noFill/>
          <a:ln w="1397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9738360" y="2103120"/>
            <a:ext cx="457200" cy="0"/>
          </a:xfrm>
          <a:prstGeom prst="line">
            <a:avLst/>
          </a:prstGeom>
          <a:noFill/>
          <a:ln w="13970">
            <a:solidFill>
              <a:srgbClr val="07868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10378440" y="2103120"/>
            <a:ext cx="457200" cy="0"/>
          </a:xfrm>
          <a:prstGeom prst="line">
            <a:avLst/>
          </a:prstGeom>
          <a:noFill/>
          <a:ln w="13970">
            <a:solidFill>
              <a:srgbClr val="1455D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8732520" y="1801368"/>
            <a:ext cx="594360" cy="594360"/>
          </a:xfrm>
          <a:prstGeom prst="ellipse">
            <a:avLst/>
          </a:prstGeom>
          <a:solidFill>
            <a:srgbClr val="EEF7FF"/>
          </a:solidFill>
          <a:ln w="2032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787384" y="1961388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692640" y="1801368"/>
            <a:ext cx="594360" cy="594360"/>
          </a:xfrm>
          <a:prstGeom prst="ellipse">
            <a:avLst/>
          </a:prstGeom>
          <a:solidFill>
            <a:srgbClr val="EAF9F8"/>
          </a:solidFill>
          <a:ln w="20320">
            <a:solidFill>
              <a:srgbClr val="0786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9747504" y="1961388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652760" y="1801368"/>
            <a:ext cx="594360" cy="594360"/>
          </a:xfrm>
          <a:prstGeom prst="ellipse">
            <a:avLst/>
          </a:prstGeom>
          <a:solidFill>
            <a:srgbClr val="EEF7FF"/>
          </a:solidFill>
          <a:ln w="2032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0707624" y="1961388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820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50392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∑ → f → y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909560" y="297180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EAF9F8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8074152" y="30906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074152" y="31455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31352" y="3090672"/>
            <a:ext cx="2624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Öğrenciye kapanış sorusu: “Eğer aktivasyonu kaldırırsak, ağın öğrenebileceği sınır nasıl değişir?”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1280160" y="5257800"/>
            <a:ext cx="9784080" cy="713232"/>
          </a:xfrm>
          <a:prstGeom prst="roundRect">
            <a:avLst>
              <a:gd name="adj" fmla="val 12821"/>
            </a:avLst>
          </a:prstGeom>
          <a:solidFill>
            <a:srgbClr val="EEF7FF"/>
          </a:solidFill>
          <a:ln w="12700">
            <a:solidFill>
              <a:srgbClr val="BBD2F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1444752" y="5376672"/>
            <a:ext cx="320040" cy="320040"/>
          </a:xfrm>
          <a:prstGeom prst="ellipse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1444752" y="54315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*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901952" y="5376672"/>
            <a:ext cx="8979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82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Özet: Aktivasyon fonksiyonu, sinir ağını yalnızca hesap yapan bir lineer makineden, karmaşık örüntüler öğrenebilen bir modele dönüştürür.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1551</Words>
  <Application>Microsoft Office PowerPoint</Application>
  <PresentationFormat>Geniş ekran</PresentationFormat>
  <Paragraphs>316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Cascadia Code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Aktivasyon Fonksiyonları: Doğrusal Olmayan İfade Gücü</dc:title>
  <dc:subject>Aktivasyon Fonksiyonları: Doğrusal Olmayan İfade Gücü</dc:subject>
  <dc:creator>OpenAI</dc:creator>
  <cp:lastModifiedBy>Hüseyin GÜNEŞ</cp:lastModifiedBy>
  <cp:revision>2</cp:revision>
  <dcterms:created xsi:type="dcterms:W3CDTF">2026-04-28T04:00:15Z</dcterms:created>
  <dcterms:modified xsi:type="dcterms:W3CDTF">2026-04-28T04:03:38Z</dcterms:modified>
</cp:coreProperties>
</file>