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292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129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2325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-548640" y="-457200"/>
            <a:ext cx="2194560" cy="219456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1371600" y="3474720"/>
            <a:ext cx="1645920" cy="164592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28600" y="320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ile Görüntü İşleme • 9. Hafta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68580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3B82F6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228600" y="2286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kern="0" spc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49040" y="411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ile Görüntü İşleme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0" y="86868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2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Katmanlı Ağlardan Yapay Sinir Ağlarına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749040" y="31089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krizi · MLP mimarisi · Geri yayılım matematiği · Aktivasyon fonksiyonları · PyTorch uygulamaları · YSA tarihi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49040" y="4663440"/>
            <a:ext cx="5120640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749040" y="47091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YSA | 9. Hafta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325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Konuları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11556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069848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Nöronun Sınırı &amp; XOR Problemi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06240" cy="1115568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846320" y="1033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94960" y="1069848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Perceptron (MLP) Mimarisi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4206240" cy="111556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65760" y="2359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2395728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Aktivasyon Fonksiyonları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206240" cy="111556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846320" y="2359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94960" y="2395728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Yayılım &amp; Optimizasyon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4206240" cy="111556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65760" y="3685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3721608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ile Gerçek Hayat Uygulamaları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611880"/>
            <a:ext cx="4206240" cy="1115568"/>
          </a:xfrm>
          <a:prstGeom prst="rect">
            <a:avLst/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846320" y="3685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3721608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YSA Mimarileri Tarihi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Nöronun Sınırı: XOR Problemi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tek katmanlı perceptron yetmez?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Minsky &amp; Papert (1969) ve yapay zekâ kışı.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0" y="914400"/>
            <a:ext cx="2103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DBEAFE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325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Problemi: Doğrusal Olmayan Karar Sınırı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Doğruluk Tablosu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3657600" cy="9144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x₁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x₂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 (XOR)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6534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E123C"/>
                          </a:solidFill>
                        </a:rPr>
                        <a:t>1 ✓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E123C"/>
                          </a:solidFill>
                        </a:rPr>
                        <a:t>1 ✓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6534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0" y="868680"/>
            <a:ext cx="4297680" cy="4023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470916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Perceptron Başarısız?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09160" y="1353312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 yalnızca doğrusal karar sınırı çizebilir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XOR'da pozitif örnekler (0,1) ve (1,0) düzlemde diyagonal konumda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iki grubu TEK bir doğruyla ayırmak geometrik olarak imkânsız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ve OR doğrusal olarak ayrılabilir → perceptron çözer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ayrılamaz → perceptron çözemez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Minsky &amp; Papert (1969) bu kısıtı ispatlayarak "yapay zekâ kışı"nı (1970'ler) başlattı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325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XOR'un Çözümü: Çok Katmanlı Yaklaşım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64008" cy="3840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Birden fazla perceptronu üst üste ve yan yana yerleştirmek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Birinci gizli nöron → "en az biri 1" mantığını öğrenir (OR benzeri)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 gizli nöron → "her ikisi de 1" durumunu engeller (NAND benzeri)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iki gizli nöronun çıktısı birleştiğinde XOR elde edilir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Rumelhart, Hinton &amp; Williams (1986): Geri yayılım algoritmasını yeniden keşfetti → Çok katmanlı ağlar uygulanabilir hâle geldi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Tarihin ironisi: Teknik çözüm önceden biliniyordu; onu işletecek yöntem 17 yıl sonra geldi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Anahtar fikir: Katmanları çoğaltmak, ağa doğrusal olmayan karar sınırları öğrenme kapasitesi kazandırır.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Perceptron (MLP)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Katmanlar, nöronlar, matris formülasyonu ve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evrensel yaklaşım teoremi.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0" y="914400"/>
            <a:ext cx="2103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DBEAFE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Mimarisi: Üç Temel Katman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18288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Girdi Katmanı (Input Layer)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3560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veriyi ağa aktarır. Nöron sayısı = özellik sayısı. Hesaplama yapmaz, yalnızca veriyi iletir.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4023360" cy="182880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98348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Gizli Katman(lar) (Hidden Layers)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143560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Temsil öğrenmenin gerçekleştiği yer. Her nöron ağırlıklı toplam + bias + aktivasyon fonksiyonu uygular.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063240"/>
            <a:ext cx="4023360" cy="182880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1148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Çıktı Katmanı (Output Layer)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53872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 üretir.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İkili sınıf → 1 nöron + Sigmoid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Çok sınıf → C nöron + Softmax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Regresyon → 1 nöron (aktivasyonsuz)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063240"/>
            <a:ext cx="4023360" cy="1828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98348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Tam Bağlı (Fully Connected)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353872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katmandaki her nöron, önceki katmandaki tüm nöronlara bağlıdır. PyTorch'ta: nn.Linear(in, out)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Hesaplaması: Matris Formülasyonu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737360"/>
          </a:xfrm>
          <a:prstGeom prst="rect">
            <a:avLst/>
          </a:prstGeom>
          <a:solidFill>
            <a:srgbClr val="F8FAFF"/>
          </a:solidFill>
          <a:ln w="1905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W · x + b</a:t>
            </a:r>
            <a:endParaRPr lang="en-US" sz="18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f(z)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2125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W: Ağırlık matrisi (şekil: çıktı_boyutu × girdi_boyutu)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Girdi vektörü, b: Bias vektörü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z: Net girdi (aktivasyon öncesi), a: Aktivasyon çıktısı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 Aktivasyon fonksiyonu (ReLU, Sigmoid, Tanh…)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katmandaki çıktı (a), bir sonraki katmanın girdisi olur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PyTorch'ta nn.Linear tam olarak bu matris çarpımını gerçekleştirir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325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Evrensel Yaklaşım Teoremi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64008" cy="3840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Teorem: En az bir gizli katman ve yeterli sayıda nöron içeren bir MLP, herhangi bir sürekli fonksiyonu istenen hassasiyetle yaklaşık olarak temsil edebilir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teorik güvence, MLP'nin çok genel bir öğrenme aracı olduğunu kanıtlar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çıkarım: Ağ, teorik olarak her şeyi öğrenebilir — yeterli veri, uygun mimari ve iyi eğitim süreciyle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Derinlik (katman sayısı) vs. Genişlik (nöron sayısı): Derin ağlar daha verimli temsil üretir, az parametre ile çok karmaşık fonksiyon öğrenebilir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 not: Teoremin varlığı, hangi mimarinin kullanılacağını söylemez — bu tasarım deneyim gerektirir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Hornik et al. (1989) &amp; Cybenko (1989) — Evrensel Yaklaşım Teoremi'nin iki bağımsız ispatı.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Aktivasyon Fonksiyonları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Ağa doğrusal olmayan ifade gücü kazandıran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bileşen.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0" y="914400"/>
            <a:ext cx="2103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DBEAFE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325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Aktivasyon Fonksiyonu Gerekli?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64008" cy="3840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Aktivasyonsuz ağ = tek bir lineer katman: Kaç gizli katman eklenirse eklensin, matris çarpımlarının bileşimi yine lineer kalır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Aktivasyon fonksiyonu bu doğrusallığı kırarak ağa gerçek anlamda karmaşık fonksiyonlar öğrenme kapasitesi kazandırır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nokta: Aktivasyon olmadan derin bir ağ, matematiksel olarak tek bir lineer katmanla eşdeğerdir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olmayan karar sınırları → görüntü tanıma, ses işleme, hastalık teşhisi gibi gerçek dünya problemleri için şarttır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325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Aktivasyon Fonksiyonları Karşılaştırması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171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Fonksiyon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Formül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Aralık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Avantaj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Dezavantaj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σ(x) = 1/(1+e⁻ˣ)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Olasılık yorumu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Vanishing gradient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(eˣ-e⁻ˣ)/(eˣ+e⁻ˣ)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(-1, 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Ortalama ≈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Vanishing gradient riski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max(0, 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+∞)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Hızlı, iyi gradyan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Dying ReLU (x&lt;0)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Leaky ReLU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max(0.01x, 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(-∞, +∞)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Ölü nöron azalır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 hiperparametre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x≥0: x | x&lt;0: α(eˣ-1)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(-α, +∞)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Negatif değer üretir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Yavaş hesaplama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eˣⁱ / Σeˣʲ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(0,1) toplamı=1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sınıf çıkışı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 başına kullanılmaz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325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Aktivasyon Ne Zaman?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64008" cy="3840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katmanlar (varsayılan): ReLU — hızlı, derin ağlarda iyi gradyan akışı, pratik tercihin büyük çoğunluğu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katmanlar (RNN): Tanh — -1/+1 aralığı, ortalama sıfıra yakın, sekanslar için uygun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İkili sınıflandırma çıkışı: Sigmoid — (0,1) aralığında olasılık üretir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sınıflı sınıflandırma çıkışı: Softmax — olasılıklar toplamı = 1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Regresyon çıkışı: Aktivasyon yok — çıktı sınırsız reel sayı olabilmeli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Dying ReLU sorunu varsa: Leaky ReLU veya ELU tercih edilebilir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Kural: Gizli katmanlarda ReLU ile başlayın, sorun görürseniz alternatiflere geçin.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Yayılım Algoritması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Zincir kuralı, gradyan hesabı ve ağırlık güncellemesi.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0" y="914400"/>
            <a:ext cx="2103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DBEAFE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325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Yayılım: Temel Fikir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64008" cy="3840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 besleme (Forward Pass): Girdi → gizli katmanlar → çıktı → kayıp hesaplanır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yayılım (Backward Pass): Kaybın her parametreye göre gradyanı zincir kuralıyla hesaplanır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Zincir kuralı: ∂L/∂w = (∂L/∂a) · (∂a/∂z) · (∂z/∂w)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katmandaki gradyanlar çıktıdan giriş yönüne doğru kademeli olarak hesaplanır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Hesaplama grafı (computational graph): PyTorch'un autograd sistemi bu grafiyi otomatik olarak oluşturur ve geriye doğru gradyan akışını yönetir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Rumelhart, Hinton &amp; Williams (1986) — Geri yayılımın modern sinir ağlarına uygulanması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Yayılım: Matematiksel Temel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2377440"/>
          </a:xfrm>
          <a:prstGeom prst="rect">
            <a:avLst/>
          </a:prstGeom>
          <a:solidFill>
            <a:srgbClr val="F8FAFF"/>
          </a:solidFill>
          <a:ln w="1905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∂L/∂wᵢⱼ = ∂L/∂aⱼ · ∂aⱼ/∂zⱼ · ∂zⱼ/∂wᵢⱼ</a:t>
            </a:r>
            <a:endParaRPr lang="en-US" sz="18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δⱼ = ∂L/∂zⱼ = ∂L/∂aⱼ · f'(zⱼ)</a:t>
            </a:r>
            <a:endParaRPr lang="en-US" sz="18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wᵢⱼ ← wᵢⱼ − η · ∂L/∂wᵢⱼ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1485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L: Kayıp fonksiyonu (loss), η: Öğrenme hızı (learning rate)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δⱼ: j. nöronun hata sinyali (delta), f': Aktivasyon fonksiyonunun türevi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Zincir kuralı sayesinde katmandan katmana hata geriye iletilir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PyTorch'ta loss.backward() bu hesabı otomatik yapar — loss.step() ağırlıkları günceller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Kayıp Fonksiyonları &amp; Optimizasyon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Neyi minimize ediyoruz ve nasıl?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0" y="914400"/>
            <a:ext cx="2103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DBEAFE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325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Kayıp Fonksiyonları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31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 İçin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 (BCE): İkili sınıflandırma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-[y·log(ŷ) + (1-y)·log(1-ŷ)]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Cross-Entropy: Çok sınıflı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-Σ yᵢ·log(ŷᵢ)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PyTorch: nn.BCELoss(), nn.CrossEntropyLoss()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4023360" cy="393192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02920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Regresyon İçin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444752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(MSE): L = (1/n) Σ(yᵢ - ŷᵢ)²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hataları orantısız cezalandırır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(MAE): L = (1/n) Σ|yᵢ - ŷᵢ|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Aykırı değerlere daha dayanıklı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PyTorch: nn.MSELoss(), nn.L1Loss()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325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Optimizasyon Algoritmaları</a:t>
            </a:r>
            <a:endParaRPr lang="en-US" sz="2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Güncelleme Kuralı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Avantajları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Zaman Kullan?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← w − η·∇L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Basit, anlaşılması kolay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Temel başlangıç, momentum 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 + Momentum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v←βv−η∇L, w←w+v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Yerel minimum tuzaklarından kaçar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Görüntü işleme klasiği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RMSprop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Adaptif öğrenme hızı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 için iyi, sabit olmayan gradyan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Sekans modelleri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 + Adaptif lr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Hızlı yakınsama, hiperparametreye az duyarlı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tavsiye — varsayılan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 + L2 weight decay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Adam'ın düzeltilmiş versiyonu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ve modern modeller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Terminolojisi Sözlüğü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Epoch, batch, iteration, overfitting ve daha fazlası.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0" y="914400"/>
            <a:ext cx="2103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DBEAFE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325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Eğitim Terimleri</a:t>
            </a:r>
            <a:endParaRPr lang="en-US" sz="2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Türkçe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Dönem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eğitim verisinin ağdan bir kez geçirilmesi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Grup/Yığın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gradyan güncellemesinde kullanılan örnek sayısı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Yineleme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 batch üzerinde tek bir ileri+geri geçiş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 (η)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Öğrenme Hızı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Ağırlık güncellemesinin büyüklük katsayısı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/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Kayıp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Modelin tahmininin gerçekten ne kadar saptığı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Gradyan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Kaybın parametreye göre kısmi türevi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Aşırı Öğrenme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Eğitimde iyi, testte zayıf performans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Underfitting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Yetersiz Öğrenme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 eğitimde hem testte zayıf performans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Doğrulama Seti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Hiperparametre ayarı için kullanılan ayrı veri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Decay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Ağırlık Çürümesi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düzenlileştirme — aşırı büyük ağırlıkları cezalandırır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ile YSA Oluşturmak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nn.Module, eğitim döngüsü ve değerlendirme.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0" y="914400"/>
            <a:ext cx="2103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DBEAFE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325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PyTorch: Temel MLP Yapısı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023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torch.nn as nn
</a:t>
            </a:r>
            <a:r>
              <a:rPr lang="en-US" sz="1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MLP(</a:t>
            </a: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nn.Module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__init__(self, in_f, hidden, out_f):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self.net =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nn.Sequential(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nn.Linear(in_f, hidden),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nn.ReLU(),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nn.Linear(hidden, hidden),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nn.ReLU(),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nn.Linear(hidden, out_f)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forward(self, x):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self.net(x)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325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PyTorch: Eğitim Döngüsü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023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 = </a:t>
            </a: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torch.optim.Adam</a:t>
            </a: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(model.parameters(), lr=</a:t>
            </a:r>
            <a:r>
              <a:rPr lang="en-US" sz="12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1e-3</a:t>
            </a: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loss_fn = nn.CrossEntropyLoss()
</a:t>
            </a:r>
            <a:r>
              <a:rPr lang="en-US" sz="12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epoch </a:t>
            </a:r>
            <a:r>
              <a:rPr lang="en-US" sz="12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range(num_epochs):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model.train()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X_batch, y_batch </a:t>
            </a:r>
            <a:r>
              <a:rPr lang="en-US" sz="12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train_loader: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preds = model(X_batch)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loss  = loss_fn(preds, y_batch)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optimizer.zero_grad() 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gradyanları sıfırla
</a:t>
            </a: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loss.backward()         </a:t>
            </a: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geri yayılım
</a:t>
            </a: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optimizer.step()         </a:t>
            </a: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ağırlık güncelle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Hayat Uygulamaları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Diyabet tahmini · Müşteri kaybı · Görüntü sınıflandırma.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0" y="914400"/>
            <a:ext cx="2103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DBEAFE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Problemleri Özeti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18288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Problem 1: Diyabet Tahmini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3560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Diabetes Dataset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hasta, 8 özellik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Görev: Diyabet var mı? (İkili sınıflandırma)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Mimari: 8→16→8→1 + Sigmoid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4023360" cy="182880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98348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Problem 2: Müşteri Churn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143560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Dataset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7.000+ müşteri, kategorik + sayısal özellikler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Görev: Müşteri ayrılacak mı?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Mimari: Embedding + MLP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063240"/>
            <a:ext cx="4023360" cy="182880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1148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Problem 3: Görüntü Sınıflandırma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53872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(10 sınıf, 60.000 görüntü)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Görev: Nesne tanıma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Mimari: Düzleştirilmiş MLP → temel adım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adım: CNN ile çok daha iyi sonuç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063240"/>
            <a:ext cx="4023360" cy="1828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98348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Performans Metrikleri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353872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Accuracy: Doğru / Toplam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Precision &amp; Recall: Sınıf dengesi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F1-Score: Harmonik ortalama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ROC-AUC: Eşik bağımsız değerlendirme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Aşırı Öğrenme &amp; Düzenlileştirme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 genelleştirmek için stratejiler.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0" y="914400"/>
            <a:ext cx="2103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DBEAFE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325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ve Çözüm Yolları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31920"/>
          </a:xfrm>
          <a:prstGeom prst="rect">
            <a:avLst/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Aşırı Öğrenme Belirtileri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kaybı düşük, doğrulama kaybı yüksek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doğruluğu %99, test doğruluğu %70 — model ezberlemiş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az, model karmaşık olduğunda sık görülür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ve test eğrisi arasında giderek açılan makas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4023360" cy="39319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02920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Düzenlileştirme Teknikleri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444752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 Eğitim sırasında rastgele nöronları devre dışı bırakır (p=0.2–0.5)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/ Weight Decay: Büyük ağırlıkları cezalandırır (AdamW)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 Doğrulama kaybı artmaya başladığında eğitimi durdur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Normalization: Katman girişlerini normalize eder, eğitimi stabilize eder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artırma (Data Augmentation): Görüntü döndürme, kırpma, renk değiştirme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YSA Mimarileri: Tarih &amp; Türler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MLP'den Transformer'a uzanan yolculuk.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0" y="914400"/>
            <a:ext cx="2103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DBEAFE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325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YSA Mimarileri Zaman Çizelgesi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2423160"/>
            <a:ext cx="841248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68680" y="1508760"/>
            <a:ext cx="45720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685800" y="2240280"/>
            <a:ext cx="411480" cy="4114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1960'lar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1508760"/>
            <a:ext cx="4572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2103120" y="224028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783080" y="28346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Yayılım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(MLP)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03320" y="1508760"/>
            <a:ext cx="45720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3520440" y="224028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200400" y="91440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LeNet-5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(CNN)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1508760"/>
            <a:ext cx="45720" cy="91440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937760" y="2240280"/>
            <a:ext cx="411480" cy="41148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617720" y="28346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(Derin CNN)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37960" y="1508760"/>
            <a:ext cx="45720" cy="91440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6355080" y="2240280"/>
            <a:ext cx="411480" cy="411480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035040" y="91440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55280" y="1508760"/>
            <a:ext cx="45720" cy="9144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7772400" y="2240280"/>
            <a:ext cx="411480" cy="41148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7452360" y="28346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(Attention)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325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YSA Mimarileri: Türler ve Kullanım Alanları</a:t>
            </a:r>
            <a:endParaRPr lang="en-US" sz="2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Mimari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Kısaltma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Güçlü Olduğu Alan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Önemli Örnek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Multi-Layer Perceptron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Tablolu veri, temel sınıflandırma/regresyon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Diyabet tahmini, Churn analizi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Konvolüsyonel Sinir Ağı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Görüntü işleme, nesne tanıma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AlexNet, VGG, ResNet, EfficientNet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Tekrarlayan Sinir Ağı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RNN/LSTM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Zaman serileri, dil işleme, sekans modelleme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LSTM, GRU — makine çevirisi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Otokodlayıcı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Autoencoder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Anomali tespiti, gürültü giderme, sıkıştırma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Variational AE (VAE)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Üretici Çekişmeli Ağ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Görüntü üretimi, veri artırma, stil transferi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StyleGAN, Pix2Pix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 modellemesi, görüntü (ViT), çok modlu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GPT, BERT, ViT, CLIP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325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 Neler Öğrendik?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51960" cy="11430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❶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100584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problemi perceptronun sınırını ortaya koyar — doğrusal olmayan problemler için çok katmanlı ağ şarttır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251960" cy="114300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828032" y="987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❷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49240" y="100584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girdi → gizli katman(lar) → çıktı. z = Wx + b, a = f(z)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51960" cy="114300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47472" y="2313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❸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233172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Aktivasyon fonksiyonları (ReLU, Sigmoid, Tanh, Softmax) ağa doğrusal olmayan güç kazandırır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251960" cy="1143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828032" y="2313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❹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49240" y="233172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yayılım = zincir kuralı ile gradyan hesabı + ağırlık güncellemesi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566160"/>
            <a:ext cx="4251960" cy="11430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47472" y="3639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❺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36576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optimizer, Cross-Entropy loss — modern derin öğrenmenin standart araç kutusu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566160"/>
            <a:ext cx="4251960" cy="1143000"/>
          </a:xfrm>
          <a:prstGeom prst="rect">
            <a:avLst/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828032" y="3639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❻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49240" y="36576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Dropout, L2, Early Stopping ile aşırı öğrenmeye karşı savunma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232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286000" cy="2286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&amp; Tartışma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ile Görüntü İşleme  •  9. Hafta  •  Çok Katmanlı Ağlardan YSA'ya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sonraki hafta: Konvolüsyonel Sinir Ağları (CNN) →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2375</Words>
  <Application>Microsoft Office PowerPoint</Application>
  <PresentationFormat>Ekran Gösterisi (16:9)</PresentationFormat>
  <Paragraphs>414</Paragraphs>
  <Slides>33</Slides>
  <Notes>33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33</vt:i4>
      </vt:variant>
    </vt:vector>
  </HeadingPairs>
  <TitlesOfParts>
    <vt:vector size="38" baseType="lpstr">
      <vt:lpstr>Arial</vt:lpstr>
      <vt:lpstr>Calibri</vt:lpstr>
      <vt:lpstr>Cambria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Çok Katmanlı Ağlardan Yapay Sinir Ağlarına – 9. Hafta</dc:title>
  <dc:subject>PptxGenJS Presentation</dc:subject>
  <dc:creator>PptxGenJS</dc:creator>
  <cp:lastModifiedBy>Hüseyin GÜNEŞ</cp:lastModifiedBy>
  <cp:revision>1</cp:revision>
  <dcterms:created xsi:type="dcterms:W3CDTF">2026-04-28T03:28:18Z</dcterms:created>
  <dcterms:modified xsi:type="dcterms:W3CDTF">2026-04-28T03:31:01Z</dcterms:modified>
</cp:coreProperties>
</file>